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Glacial Indifference" panose="020B0604020202020204" charset="0"/>
      <p:regular r:id="rId11"/>
    </p:embeddedFont>
    <p:embeddedFont>
      <p:font typeface="Glacial Indifference Bold" panose="020B0604020202020204" charset="0"/>
      <p:regular r:id="rId12"/>
    </p:embeddedFont>
    <p:embeddedFont>
      <p:font typeface="Heading Now 71-78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9.png"/><Relationship Id="rId7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10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.svg"/><Relationship Id="rId7" Type="http://schemas.openxmlformats.org/officeDocument/2006/relationships/image" Target="../media/image1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9.png"/><Relationship Id="rId7" Type="http://schemas.openxmlformats.org/officeDocument/2006/relationships/image" Target="../media/image22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3.sv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.svg"/><Relationship Id="rId7" Type="http://schemas.openxmlformats.org/officeDocument/2006/relationships/image" Target="../media/image27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74383" y="647700"/>
            <a:ext cx="2484917" cy="891770"/>
            <a:chOff x="0" y="0"/>
            <a:chExt cx="829100" cy="2975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9100" cy="297542"/>
            </a:xfrm>
            <a:custGeom>
              <a:avLst/>
              <a:gdLst/>
              <a:ahLst/>
              <a:cxnLst/>
              <a:rect l="l" t="t" r="r" b="b"/>
              <a:pathLst>
                <a:path w="829100" h="297542">
                  <a:moveTo>
                    <a:pt x="148771" y="0"/>
                  </a:moveTo>
                  <a:lnTo>
                    <a:pt x="680329" y="0"/>
                  </a:lnTo>
                  <a:cubicBezTo>
                    <a:pt x="762493" y="0"/>
                    <a:pt x="829100" y="66607"/>
                    <a:pt x="829100" y="148771"/>
                  </a:cubicBezTo>
                  <a:lnTo>
                    <a:pt x="829100" y="148771"/>
                  </a:lnTo>
                  <a:cubicBezTo>
                    <a:pt x="829100" y="188227"/>
                    <a:pt x="813426" y="226068"/>
                    <a:pt x="785526" y="253968"/>
                  </a:cubicBezTo>
                  <a:cubicBezTo>
                    <a:pt x="757626" y="281868"/>
                    <a:pt x="719786" y="297542"/>
                    <a:pt x="680329" y="297542"/>
                  </a:cubicBezTo>
                  <a:lnTo>
                    <a:pt x="148771" y="297542"/>
                  </a:lnTo>
                  <a:cubicBezTo>
                    <a:pt x="109314" y="297542"/>
                    <a:pt x="71474" y="281868"/>
                    <a:pt x="43574" y="253968"/>
                  </a:cubicBezTo>
                  <a:cubicBezTo>
                    <a:pt x="15674" y="226068"/>
                    <a:pt x="0" y="188227"/>
                    <a:pt x="0" y="148771"/>
                  </a:cubicBezTo>
                  <a:lnTo>
                    <a:pt x="0" y="148771"/>
                  </a:lnTo>
                  <a:cubicBezTo>
                    <a:pt x="0" y="109314"/>
                    <a:pt x="15674" y="71474"/>
                    <a:pt x="43574" y="43574"/>
                  </a:cubicBezTo>
                  <a:cubicBezTo>
                    <a:pt x="71474" y="15674"/>
                    <a:pt x="109314" y="0"/>
                    <a:pt x="148771" y="0"/>
                  </a:cubicBezTo>
                  <a:close/>
                </a:path>
              </a:pathLst>
            </a:custGeom>
            <a:solidFill>
              <a:srgbClr val="FFFFFF">
                <a:alpha val="27843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29100" cy="335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65658" y="899288"/>
            <a:ext cx="352560" cy="388594"/>
          </a:xfrm>
          <a:custGeom>
            <a:avLst/>
            <a:gdLst/>
            <a:ahLst/>
            <a:cxnLst/>
            <a:rect l="l" t="t" r="r" b="b"/>
            <a:pathLst>
              <a:path w="352560" h="388594">
                <a:moveTo>
                  <a:pt x="0" y="0"/>
                </a:moveTo>
                <a:lnTo>
                  <a:pt x="352561" y="0"/>
                </a:lnTo>
                <a:lnTo>
                  <a:pt x="352561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115092" y="899288"/>
            <a:ext cx="417435" cy="388594"/>
          </a:xfrm>
          <a:custGeom>
            <a:avLst/>
            <a:gdLst/>
            <a:ahLst/>
            <a:cxnLst/>
            <a:rect l="l" t="t" r="r" b="b"/>
            <a:pathLst>
              <a:path w="417435" h="388594">
                <a:moveTo>
                  <a:pt x="0" y="0"/>
                </a:moveTo>
                <a:lnTo>
                  <a:pt x="417435" y="0"/>
                </a:lnTo>
                <a:lnTo>
                  <a:pt x="417435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834339" y="647700"/>
            <a:ext cx="4594119" cy="891770"/>
            <a:chOff x="0" y="0"/>
            <a:chExt cx="1532842" cy="2975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32842" cy="297542"/>
            </a:xfrm>
            <a:custGeom>
              <a:avLst/>
              <a:gdLst/>
              <a:ahLst/>
              <a:cxnLst/>
              <a:rect l="l" t="t" r="r" b="b"/>
              <a:pathLst>
                <a:path w="1532842" h="297542">
                  <a:moveTo>
                    <a:pt x="148771" y="0"/>
                  </a:moveTo>
                  <a:lnTo>
                    <a:pt x="1384071" y="0"/>
                  </a:lnTo>
                  <a:cubicBezTo>
                    <a:pt x="1423527" y="0"/>
                    <a:pt x="1461368" y="15674"/>
                    <a:pt x="1489268" y="43574"/>
                  </a:cubicBezTo>
                  <a:cubicBezTo>
                    <a:pt x="1517168" y="71474"/>
                    <a:pt x="1532842" y="109314"/>
                    <a:pt x="1532842" y="148771"/>
                  </a:cubicBezTo>
                  <a:lnTo>
                    <a:pt x="1532842" y="148771"/>
                  </a:lnTo>
                  <a:cubicBezTo>
                    <a:pt x="1532842" y="188227"/>
                    <a:pt x="1517168" y="226068"/>
                    <a:pt x="1489268" y="253968"/>
                  </a:cubicBezTo>
                  <a:cubicBezTo>
                    <a:pt x="1461368" y="281868"/>
                    <a:pt x="1423527" y="297542"/>
                    <a:pt x="1384071" y="297542"/>
                  </a:cubicBezTo>
                  <a:lnTo>
                    <a:pt x="148771" y="297542"/>
                  </a:lnTo>
                  <a:cubicBezTo>
                    <a:pt x="109314" y="297542"/>
                    <a:pt x="71474" y="281868"/>
                    <a:pt x="43574" y="253968"/>
                  </a:cubicBezTo>
                  <a:cubicBezTo>
                    <a:pt x="15674" y="226068"/>
                    <a:pt x="0" y="188227"/>
                    <a:pt x="0" y="148771"/>
                  </a:cubicBezTo>
                  <a:lnTo>
                    <a:pt x="0" y="148771"/>
                  </a:lnTo>
                  <a:cubicBezTo>
                    <a:pt x="0" y="109314"/>
                    <a:pt x="15674" y="71474"/>
                    <a:pt x="43574" y="43574"/>
                  </a:cubicBezTo>
                  <a:cubicBezTo>
                    <a:pt x="71474" y="15674"/>
                    <a:pt x="109314" y="0"/>
                    <a:pt x="148771" y="0"/>
                  </a:cubicBezTo>
                  <a:close/>
                </a:path>
              </a:pathLst>
            </a:custGeom>
            <a:solidFill>
              <a:srgbClr val="FFFFFF">
                <a:alpha val="27843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532842" cy="335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119554" y="899288"/>
            <a:ext cx="388594" cy="388594"/>
          </a:xfrm>
          <a:custGeom>
            <a:avLst/>
            <a:gdLst/>
            <a:ahLst/>
            <a:cxnLst/>
            <a:rect l="l" t="t" r="r" b="b"/>
            <a:pathLst>
              <a:path w="388594" h="388594">
                <a:moveTo>
                  <a:pt x="0" y="0"/>
                </a:moveTo>
                <a:lnTo>
                  <a:pt x="388594" y="0"/>
                </a:lnTo>
                <a:lnTo>
                  <a:pt x="388594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522408" y="899288"/>
            <a:ext cx="312995" cy="388594"/>
          </a:xfrm>
          <a:custGeom>
            <a:avLst/>
            <a:gdLst/>
            <a:ahLst/>
            <a:cxnLst/>
            <a:rect l="l" t="t" r="r" b="b"/>
            <a:pathLst>
              <a:path w="312995" h="388594">
                <a:moveTo>
                  <a:pt x="0" y="0"/>
                </a:moveTo>
                <a:lnTo>
                  <a:pt x="312995" y="0"/>
                </a:lnTo>
                <a:lnTo>
                  <a:pt x="312995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859019" y="2057400"/>
            <a:ext cx="16631253" cy="10299863"/>
            <a:chOff x="0" y="0"/>
            <a:chExt cx="4380248" cy="271272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380248" cy="2712721"/>
            </a:xfrm>
            <a:custGeom>
              <a:avLst/>
              <a:gdLst/>
              <a:ahLst/>
              <a:cxnLst/>
              <a:rect l="l" t="t" r="r" b="b"/>
              <a:pathLst>
                <a:path w="4380248" h="2712721">
                  <a:moveTo>
                    <a:pt x="23741" y="0"/>
                  </a:moveTo>
                  <a:lnTo>
                    <a:pt x="4356507" y="0"/>
                  </a:lnTo>
                  <a:cubicBezTo>
                    <a:pt x="4362803" y="0"/>
                    <a:pt x="4368842" y="2501"/>
                    <a:pt x="4373294" y="6953"/>
                  </a:cubicBezTo>
                  <a:cubicBezTo>
                    <a:pt x="4377746" y="11406"/>
                    <a:pt x="4380248" y="17444"/>
                    <a:pt x="4380248" y="23741"/>
                  </a:cubicBezTo>
                  <a:lnTo>
                    <a:pt x="4380248" y="2688980"/>
                  </a:lnTo>
                  <a:cubicBezTo>
                    <a:pt x="4380248" y="2695277"/>
                    <a:pt x="4377746" y="2701315"/>
                    <a:pt x="4373294" y="2705768"/>
                  </a:cubicBezTo>
                  <a:cubicBezTo>
                    <a:pt x="4368842" y="2710220"/>
                    <a:pt x="4362803" y="2712721"/>
                    <a:pt x="4356507" y="2712721"/>
                  </a:cubicBezTo>
                  <a:lnTo>
                    <a:pt x="23741" y="2712721"/>
                  </a:lnTo>
                  <a:cubicBezTo>
                    <a:pt x="17444" y="2712721"/>
                    <a:pt x="11406" y="2710220"/>
                    <a:pt x="6953" y="2705768"/>
                  </a:cubicBezTo>
                  <a:cubicBezTo>
                    <a:pt x="2501" y="2701315"/>
                    <a:pt x="0" y="2695277"/>
                    <a:pt x="0" y="2688980"/>
                  </a:cubicBezTo>
                  <a:lnTo>
                    <a:pt x="0" y="23741"/>
                  </a:lnTo>
                  <a:cubicBezTo>
                    <a:pt x="0" y="17444"/>
                    <a:pt x="2501" y="11406"/>
                    <a:pt x="6953" y="6953"/>
                  </a:cubicBezTo>
                  <a:cubicBezTo>
                    <a:pt x="11406" y="2501"/>
                    <a:pt x="17444" y="0"/>
                    <a:pt x="237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380248" cy="2750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13916" y="2450125"/>
            <a:ext cx="7146369" cy="7353578"/>
            <a:chOff x="0" y="0"/>
            <a:chExt cx="1107160" cy="113926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7160" cy="1139262"/>
            </a:xfrm>
            <a:custGeom>
              <a:avLst/>
              <a:gdLst/>
              <a:ahLst/>
              <a:cxnLst/>
              <a:rect l="l" t="t" r="r" b="b"/>
              <a:pathLst>
                <a:path w="1107160" h="1139262">
                  <a:moveTo>
                    <a:pt x="37917" y="0"/>
                  </a:moveTo>
                  <a:lnTo>
                    <a:pt x="1069243" y="0"/>
                  </a:lnTo>
                  <a:cubicBezTo>
                    <a:pt x="1079299" y="0"/>
                    <a:pt x="1088943" y="3995"/>
                    <a:pt x="1096054" y="11106"/>
                  </a:cubicBezTo>
                  <a:cubicBezTo>
                    <a:pt x="1103165" y="18216"/>
                    <a:pt x="1107160" y="27861"/>
                    <a:pt x="1107160" y="37917"/>
                  </a:cubicBezTo>
                  <a:lnTo>
                    <a:pt x="1107160" y="1101345"/>
                  </a:lnTo>
                  <a:cubicBezTo>
                    <a:pt x="1107160" y="1111401"/>
                    <a:pt x="1103165" y="1121045"/>
                    <a:pt x="1096054" y="1128156"/>
                  </a:cubicBezTo>
                  <a:cubicBezTo>
                    <a:pt x="1088943" y="1135267"/>
                    <a:pt x="1079299" y="1139262"/>
                    <a:pt x="1069243" y="1139262"/>
                  </a:cubicBezTo>
                  <a:lnTo>
                    <a:pt x="37917" y="1139262"/>
                  </a:lnTo>
                  <a:cubicBezTo>
                    <a:pt x="27861" y="1139262"/>
                    <a:pt x="18216" y="1135267"/>
                    <a:pt x="11106" y="1128156"/>
                  </a:cubicBezTo>
                  <a:cubicBezTo>
                    <a:pt x="3995" y="1121045"/>
                    <a:pt x="0" y="1111401"/>
                    <a:pt x="0" y="1101345"/>
                  </a:cubicBezTo>
                  <a:lnTo>
                    <a:pt x="0" y="37917"/>
                  </a:lnTo>
                  <a:cubicBezTo>
                    <a:pt x="0" y="27861"/>
                    <a:pt x="3995" y="18216"/>
                    <a:pt x="11106" y="11106"/>
                  </a:cubicBezTo>
                  <a:cubicBezTo>
                    <a:pt x="18216" y="3995"/>
                    <a:pt x="27861" y="0"/>
                    <a:pt x="37917" y="0"/>
                  </a:cubicBezTo>
                  <a:close/>
                </a:path>
              </a:pathLst>
            </a:custGeom>
            <a:blipFill>
              <a:blip r:embed="rId6"/>
              <a:stretch>
                <a:fillRect l="-613" r="-613"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13760506" y="8647216"/>
            <a:ext cx="3163042" cy="770991"/>
          </a:xfrm>
          <a:custGeom>
            <a:avLst/>
            <a:gdLst/>
            <a:ahLst/>
            <a:cxnLst/>
            <a:rect l="l" t="t" r="r" b="b"/>
            <a:pathLst>
              <a:path w="3163042" h="770991">
                <a:moveTo>
                  <a:pt x="0" y="0"/>
                </a:moveTo>
                <a:lnTo>
                  <a:pt x="3163042" y="0"/>
                </a:lnTo>
                <a:lnTo>
                  <a:pt x="3163042" y="770991"/>
                </a:lnTo>
                <a:lnTo>
                  <a:pt x="0" y="7709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953500" y="2497750"/>
            <a:ext cx="7691403" cy="219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54"/>
              </a:lnSpc>
            </a:pPr>
            <a:r>
              <a:rPr lang="en-US" sz="8488" spc="-466">
                <a:solidFill>
                  <a:srgbClr val="151414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Food Donation Marketplace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53500" y="4997249"/>
            <a:ext cx="4475794" cy="920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7"/>
              </a:lnSpc>
            </a:pPr>
            <a:r>
              <a:rPr lang="en-US" sz="3597" spc="-176">
                <a:solidFill>
                  <a:srgbClr val="15141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Connecting Food Donors and NGOs in One Place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9019" y="737350"/>
            <a:ext cx="2002078" cy="291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98"/>
              </a:lnSpc>
            </a:pPr>
            <a:r>
              <a:rPr lang="en-US" sz="1807" spc="-99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FoodBridge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53500" y="8593342"/>
            <a:ext cx="3329172" cy="811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81"/>
              </a:lnSpc>
            </a:pPr>
            <a:r>
              <a:rPr lang="en-US" sz="1581" spc="-33">
                <a:solidFill>
                  <a:srgbClr val="15141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MERN-powered platform enabling restaurants, grocers, events, and households to list surplus food for NGOs to claim and distribute to those in need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793990" y="919912"/>
            <a:ext cx="2440025" cy="28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9"/>
              </a:lnSpc>
            </a:pPr>
            <a:r>
              <a:rPr lang="en-US" sz="2109" spc="-4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Get Started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74383" y="647700"/>
            <a:ext cx="2484917" cy="891770"/>
            <a:chOff x="0" y="0"/>
            <a:chExt cx="829100" cy="2975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9100" cy="297542"/>
            </a:xfrm>
            <a:custGeom>
              <a:avLst/>
              <a:gdLst/>
              <a:ahLst/>
              <a:cxnLst/>
              <a:rect l="l" t="t" r="r" b="b"/>
              <a:pathLst>
                <a:path w="829100" h="297542">
                  <a:moveTo>
                    <a:pt x="148771" y="0"/>
                  </a:moveTo>
                  <a:lnTo>
                    <a:pt x="680329" y="0"/>
                  </a:lnTo>
                  <a:cubicBezTo>
                    <a:pt x="762493" y="0"/>
                    <a:pt x="829100" y="66607"/>
                    <a:pt x="829100" y="148771"/>
                  </a:cubicBezTo>
                  <a:lnTo>
                    <a:pt x="829100" y="148771"/>
                  </a:lnTo>
                  <a:cubicBezTo>
                    <a:pt x="829100" y="188227"/>
                    <a:pt x="813426" y="226068"/>
                    <a:pt x="785526" y="253968"/>
                  </a:cubicBezTo>
                  <a:cubicBezTo>
                    <a:pt x="757626" y="281868"/>
                    <a:pt x="719786" y="297542"/>
                    <a:pt x="680329" y="297542"/>
                  </a:cubicBezTo>
                  <a:lnTo>
                    <a:pt x="148771" y="297542"/>
                  </a:lnTo>
                  <a:cubicBezTo>
                    <a:pt x="109314" y="297542"/>
                    <a:pt x="71474" y="281868"/>
                    <a:pt x="43574" y="253968"/>
                  </a:cubicBezTo>
                  <a:cubicBezTo>
                    <a:pt x="15674" y="226068"/>
                    <a:pt x="0" y="188227"/>
                    <a:pt x="0" y="148771"/>
                  </a:cubicBezTo>
                  <a:lnTo>
                    <a:pt x="0" y="148771"/>
                  </a:lnTo>
                  <a:cubicBezTo>
                    <a:pt x="0" y="109314"/>
                    <a:pt x="15674" y="71474"/>
                    <a:pt x="43574" y="43574"/>
                  </a:cubicBezTo>
                  <a:cubicBezTo>
                    <a:pt x="71474" y="15674"/>
                    <a:pt x="109314" y="0"/>
                    <a:pt x="148771" y="0"/>
                  </a:cubicBezTo>
                  <a:close/>
                </a:path>
              </a:pathLst>
            </a:custGeom>
            <a:solidFill>
              <a:srgbClr val="FFFFFF">
                <a:alpha val="27843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29100" cy="335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65658" y="899288"/>
            <a:ext cx="352560" cy="388594"/>
          </a:xfrm>
          <a:custGeom>
            <a:avLst/>
            <a:gdLst/>
            <a:ahLst/>
            <a:cxnLst/>
            <a:rect l="l" t="t" r="r" b="b"/>
            <a:pathLst>
              <a:path w="352560" h="388594">
                <a:moveTo>
                  <a:pt x="0" y="0"/>
                </a:moveTo>
                <a:lnTo>
                  <a:pt x="352561" y="0"/>
                </a:lnTo>
                <a:lnTo>
                  <a:pt x="352561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115092" y="899288"/>
            <a:ext cx="417435" cy="388594"/>
          </a:xfrm>
          <a:custGeom>
            <a:avLst/>
            <a:gdLst/>
            <a:ahLst/>
            <a:cxnLst/>
            <a:rect l="l" t="t" r="r" b="b"/>
            <a:pathLst>
              <a:path w="417435" h="388594">
                <a:moveTo>
                  <a:pt x="0" y="0"/>
                </a:moveTo>
                <a:lnTo>
                  <a:pt x="417435" y="0"/>
                </a:lnTo>
                <a:lnTo>
                  <a:pt x="417435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22408" y="899288"/>
            <a:ext cx="312995" cy="388594"/>
          </a:xfrm>
          <a:custGeom>
            <a:avLst/>
            <a:gdLst/>
            <a:ahLst/>
            <a:cxnLst/>
            <a:rect l="l" t="t" r="r" b="b"/>
            <a:pathLst>
              <a:path w="312995" h="388594">
                <a:moveTo>
                  <a:pt x="0" y="0"/>
                </a:moveTo>
                <a:lnTo>
                  <a:pt x="312995" y="0"/>
                </a:lnTo>
                <a:lnTo>
                  <a:pt x="312995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866836" y="1823865"/>
            <a:ext cx="7392464" cy="7434435"/>
            <a:chOff x="0" y="0"/>
            <a:chExt cx="1145286" cy="115178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5286" cy="1151789"/>
            </a:xfrm>
            <a:custGeom>
              <a:avLst/>
              <a:gdLst/>
              <a:ahLst/>
              <a:cxnLst/>
              <a:rect l="l" t="t" r="r" b="b"/>
              <a:pathLst>
                <a:path w="1145286" h="1151789">
                  <a:moveTo>
                    <a:pt x="36655" y="0"/>
                  </a:moveTo>
                  <a:lnTo>
                    <a:pt x="1108632" y="0"/>
                  </a:lnTo>
                  <a:cubicBezTo>
                    <a:pt x="1128875" y="0"/>
                    <a:pt x="1145286" y="16411"/>
                    <a:pt x="1145286" y="36655"/>
                  </a:cubicBezTo>
                  <a:lnTo>
                    <a:pt x="1145286" y="1115134"/>
                  </a:lnTo>
                  <a:cubicBezTo>
                    <a:pt x="1145286" y="1135378"/>
                    <a:pt x="1128875" y="1151789"/>
                    <a:pt x="1108632" y="1151789"/>
                  </a:cubicBezTo>
                  <a:lnTo>
                    <a:pt x="36655" y="1151789"/>
                  </a:lnTo>
                  <a:cubicBezTo>
                    <a:pt x="16411" y="1151789"/>
                    <a:pt x="0" y="1135378"/>
                    <a:pt x="0" y="1115134"/>
                  </a:cubicBezTo>
                  <a:lnTo>
                    <a:pt x="0" y="36655"/>
                  </a:lnTo>
                  <a:cubicBezTo>
                    <a:pt x="0" y="16411"/>
                    <a:pt x="16411" y="0"/>
                    <a:pt x="36655" y="0"/>
                  </a:cubicBezTo>
                  <a:close/>
                </a:path>
              </a:pathLst>
            </a:custGeom>
            <a:blipFill>
              <a:blip r:embed="rId5"/>
              <a:stretch>
                <a:fillRect t="-30" b="-3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859019" y="6441861"/>
            <a:ext cx="4265382" cy="2816439"/>
            <a:chOff x="0" y="0"/>
            <a:chExt cx="1123393" cy="7417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23393" cy="741778"/>
            </a:xfrm>
            <a:custGeom>
              <a:avLst/>
              <a:gdLst/>
              <a:ahLst/>
              <a:cxnLst/>
              <a:rect l="l" t="t" r="r" b="b"/>
              <a:pathLst>
                <a:path w="1123393" h="741778">
                  <a:moveTo>
                    <a:pt x="56267" y="0"/>
                  </a:moveTo>
                  <a:lnTo>
                    <a:pt x="1067126" y="0"/>
                  </a:lnTo>
                  <a:cubicBezTo>
                    <a:pt x="1082049" y="0"/>
                    <a:pt x="1096361" y="5928"/>
                    <a:pt x="1106913" y="16480"/>
                  </a:cubicBezTo>
                  <a:cubicBezTo>
                    <a:pt x="1117465" y="27032"/>
                    <a:pt x="1123393" y="41344"/>
                    <a:pt x="1123393" y="56267"/>
                  </a:cubicBezTo>
                  <a:lnTo>
                    <a:pt x="1123393" y="685511"/>
                  </a:lnTo>
                  <a:cubicBezTo>
                    <a:pt x="1123393" y="700434"/>
                    <a:pt x="1117465" y="714746"/>
                    <a:pt x="1106913" y="725298"/>
                  </a:cubicBezTo>
                  <a:cubicBezTo>
                    <a:pt x="1096361" y="735850"/>
                    <a:pt x="1082049" y="741778"/>
                    <a:pt x="1067126" y="741778"/>
                  </a:cubicBezTo>
                  <a:lnTo>
                    <a:pt x="56267" y="741778"/>
                  </a:lnTo>
                  <a:cubicBezTo>
                    <a:pt x="41344" y="741778"/>
                    <a:pt x="27032" y="735850"/>
                    <a:pt x="16480" y="725298"/>
                  </a:cubicBezTo>
                  <a:cubicBezTo>
                    <a:pt x="5928" y="714746"/>
                    <a:pt x="0" y="700434"/>
                    <a:pt x="0" y="685511"/>
                  </a:cubicBezTo>
                  <a:lnTo>
                    <a:pt x="0" y="56267"/>
                  </a:lnTo>
                  <a:cubicBezTo>
                    <a:pt x="0" y="41344"/>
                    <a:pt x="5928" y="27032"/>
                    <a:pt x="16480" y="16480"/>
                  </a:cubicBezTo>
                  <a:cubicBezTo>
                    <a:pt x="27032" y="5928"/>
                    <a:pt x="41344" y="0"/>
                    <a:pt x="562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23393" cy="779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63329" y="6441861"/>
            <a:ext cx="4265382" cy="2816439"/>
            <a:chOff x="0" y="0"/>
            <a:chExt cx="1123393" cy="74177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23393" cy="741778"/>
            </a:xfrm>
            <a:custGeom>
              <a:avLst/>
              <a:gdLst/>
              <a:ahLst/>
              <a:cxnLst/>
              <a:rect l="l" t="t" r="r" b="b"/>
              <a:pathLst>
                <a:path w="1123393" h="741778">
                  <a:moveTo>
                    <a:pt x="56267" y="0"/>
                  </a:moveTo>
                  <a:lnTo>
                    <a:pt x="1067126" y="0"/>
                  </a:lnTo>
                  <a:cubicBezTo>
                    <a:pt x="1082049" y="0"/>
                    <a:pt x="1096361" y="5928"/>
                    <a:pt x="1106913" y="16480"/>
                  </a:cubicBezTo>
                  <a:cubicBezTo>
                    <a:pt x="1117465" y="27032"/>
                    <a:pt x="1123393" y="41344"/>
                    <a:pt x="1123393" y="56267"/>
                  </a:cubicBezTo>
                  <a:lnTo>
                    <a:pt x="1123393" y="685511"/>
                  </a:lnTo>
                  <a:cubicBezTo>
                    <a:pt x="1123393" y="700434"/>
                    <a:pt x="1117465" y="714746"/>
                    <a:pt x="1106913" y="725298"/>
                  </a:cubicBezTo>
                  <a:cubicBezTo>
                    <a:pt x="1096361" y="735850"/>
                    <a:pt x="1082049" y="741778"/>
                    <a:pt x="1067126" y="741778"/>
                  </a:cubicBezTo>
                  <a:lnTo>
                    <a:pt x="56267" y="741778"/>
                  </a:lnTo>
                  <a:cubicBezTo>
                    <a:pt x="41344" y="741778"/>
                    <a:pt x="27032" y="735850"/>
                    <a:pt x="16480" y="725298"/>
                  </a:cubicBezTo>
                  <a:cubicBezTo>
                    <a:pt x="5928" y="714746"/>
                    <a:pt x="0" y="700434"/>
                    <a:pt x="0" y="685511"/>
                  </a:cubicBezTo>
                  <a:lnTo>
                    <a:pt x="0" y="56267"/>
                  </a:lnTo>
                  <a:cubicBezTo>
                    <a:pt x="0" y="41344"/>
                    <a:pt x="5928" y="27032"/>
                    <a:pt x="16480" y="16480"/>
                  </a:cubicBezTo>
                  <a:cubicBezTo>
                    <a:pt x="27032" y="5928"/>
                    <a:pt x="41344" y="0"/>
                    <a:pt x="562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23393" cy="779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834339" y="647700"/>
            <a:ext cx="4594119" cy="891770"/>
            <a:chOff x="0" y="0"/>
            <a:chExt cx="1532842" cy="2975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32842" cy="297542"/>
            </a:xfrm>
            <a:custGeom>
              <a:avLst/>
              <a:gdLst/>
              <a:ahLst/>
              <a:cxnLst/>
              <a:rect l="l" t="t" r="r" b="b"/>
              <a:pathLst>
                <a:path w="1532842" h="297542">
                  <a:moveTo>
                    <a:pt x="148771" y="0"/>
                  </a:moveTo>
                  <a:lnTo>
                    <a:pt x="1384071" y="0"/>
                  </a:lnTo>
                  <a:cubicBezTo>
                    <a:pt x="1423527" y="0"/>
                    <a:pt x="1461368" y="15674"/>
                    <a:pt x="1489268" y="43574"/>
                  </a:cubicBezTo>
                  <a:cubicBezTo>
                    <a:pt x="1517168" y="71474"/>
                    <a:pt x="1532842" y="109314"/>
                    <a:pt x="1532842" y="148771"/>
                  </a:cubicBezTo>
                  <a:lnTo>
                    <a:pt x="1532842" y="148771"/>
                  </a:lnTo>
                  <a:cubicBezTo>
                    <a:pt x="1532842" y="188227"/>
                    <a:pt x="1517168" y="226068"/>
                    <a:pt x="1489268" y="253968"/>
                  </a:cubicBezTo>
                  <a:cubicBezTo>
                    <a:pt x="1461368" y="281868"/>
                    <a:pt x="1423527" y="297542"/>
                    <a:pt x="1384071" y="297542"/>
                  </a:cubicBezTo>
                  <a:lnTo>
                    <a:pt x="148771" y="297542"/>
                  </a:lnTo>
                  <a:cubicBezTo>
                    <a:pt x="109314" y="297542"/>
                    <a:pt x="71474" y="281868"/>
                    <a:pt x="43574" y="253968"/>
                  </a:cubicBezTo>
                  <a:cubicBezTo>
                    <a:pt x="15674" y="226068"/>
                    <a:pt x="0" y="188227"/>
                    <a:pt x="0" y="148771"/>
                  </a:cubicBezTo>
                  <a:lnTo>
                    <a:pt x="0" y="148771"/>
                  </a:lnTo>
                  <a:cubicBezTo>
                    <a:pt x="0" y="109314"/>
                    <a:pt x="15674" y="71474"/>
                    <a:pt x="43574" y="43574"/>
                  </a:cubicBezTo>
                  <a:cubicBezTo>
                    <a:pt x="71474" y="15674"/>
                    <a:pt x="109314" y="0"/>
                    <a:pt x="148771" y="0"/>
                  </a:cubicBezTo>
                  <a:close/>
                </a:path>
              </a:pathLst>
            </a:custGeom>
            <a:solidFill>
              <a:srgbClr val="FFFFFF">
                <a:alpha val="27843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532842" cy="335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3119554" y="899288"/>
            <a:ext cx="388594" cy="388594"/>
          </a:xfrm>
          <a:custGeom>
            <a:avLst/>
            <a:gdLst/>
            <a:ahLst/>
            <a:cxnLst/>
            <a:rect l="l" t="t" r="r" b="b"/>
            <a:pathLst>
              <a:path w="388594" h="388594">
                <a:moveTo>
                  <a:pt x="0" y="0"/>
                </a:moveTo>
                <a:lnTo>
                  <a:pt x="388594" y="0"/>
                </a:lnTo>
                <a:lnTo>
                  <a:pt x="388594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59019" y="2652126"/>
            <a:ext cx="8115300" cy="207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90"/>
              </a:lnSpc>
            </a:pPr>
            <a:r>
              <a:rPr lang="en-US" sz="5607" spc="-308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Key Features of</a:t>
            </a:r>
          </a:p>
          <a:p>
            <a:pPr marL="0" lvl="0" indent="0" algn="l">
              <a:lnSpc>
                <a:spcPts val="4990"/>
              </a:lnSpc>
            </a:pPr>
            <a:r>
              <a:rPr lang="en-US" sz="5607" spc="-308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Food Donation</a:t>
            </a:r>
          </a:p>
          <a:p>
            <a:pPr marL="0" lvl="0" indent="0" algn="l">
              <a:lnSpc>
                <a:spcPts val="4990"/>
              </a:lnSpc>
            </a:pPr>
            <a:r>
              <a:rPr lang="en-US" sz="5607" spc="-308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Marketplace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9019" y="5145033"/>
            <a:ext cx="6384672" cy="673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57"/>
              </a:lnSpc>
            </a:pPr>
            <a:r>
              <a:rPr lang="en-US" sz="1757" spc="-3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MERN-based platform connecting food donors with NGOs — enabling seamless listing of excess food, real-time discovery, and coordinated pickup for those in need.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37275" y="6936611"/>
            <a:ext cx="2724713" cy="272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</a:pPr>
            <a:r>
              <a:rPr lang="en-US" sz="2098" b="1" spc="-44">
                <a:solidFill>
                  <a:srgbClr val="15141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Food Listing System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37275" y="7427952"/>
            <a:ext cx="2847642" cy="1111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57"/>
              </a:lnSpc>
            </a:pPr>
            <a:r>
              <a:rPr lang="en-US" sz="1757" spc="-36">
                <a:solidFill>
                  <a:srgbClr val="15141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Donors can quickly post excess food with details like quantity, type, expiry, and location so NGOs can discover and claim available items instantly.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9019" y="737350"/>
            <a:ext cx="2002078" cy="693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8"/>
              </a:lnSpc>
            </a:pPr>
            <a:r>
              <a:rPr lang="en-US" sz="2398" spc="-131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FoodShare</a:t>
            </a:r>
          </a:p>
          <a:p>
            <a:pPr marL="0" lvl="0" indent="0" algn="l">
              <a:lnSpc>
                <a:spcPts val="2518"/>
              </a:lnSpc>
            </a:pPr>
            <a:r>
              <a:rPr lang="en-US" sz="2398" spc="-131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Network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793990" y="929437"/>
            <a:ext cx="2440025" cy="375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</a:pPr>
            <a:r>
              <a:rPr lang="en-US" sz="2798" spc="-5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Explore Features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04637" y="6936611"/>
            <a:ext cx="2847642" cy="272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</a:pPr>
            <a:r>
              <a:rPr lang="en-US" sz="2098" b="1" spc="-44">
                <a:solidFill>
                  <a:srgbClr val="15141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NGO Claim &amp; Pickup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04637" y="7427952"/>
            <a:ext cx="2847642" cy="1330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57"/>
              </a:lnSpc>
            </a:pPr>
            <a:r>
              <a:rPr lang="en-US" sz="1757" spc="-36">
                <a:solidFill>
                  <a:srgbClr val="15141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Verified NGOs can browse listings, claim food parcels, and coordinate pickup schedules directly through the platform for efficient last-mile delivery.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8374" y="3807634"/>
            <a:ext cx="6725794" cy="4321694"/>
            <a:chOff x="0" y="0"/>
            <a:chExt cx="1042001" cy="669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2002" cy="669543"/>
            </a:xfrm>
            <a:custGeom>
              <a:avLst/>
              <a:gdLst/>
              <a:ahLst/>
              <a:cxnLst/>
              <a:rect l="l" t="t" r="r" b="b"/>
              <a:pathLst>
                <a:path w="1042002" h="669543">
                  <a:moveTo>
                    <a:pt x="40288" y="0"/>
                  </a:moveTo>
                  <a:lnTo>
                    <a:pt x="1001714" y="0"/>
                  </a:lnTo>
                  <a:cubicBezTo>
                    <a:pt x="1023964" y="0"/>
                    <a:pt x="1042002" y="18037"/>
                    <a:pt x="1042002" y="40288"/>
                  </a:cubicBezTo>
                  <a:lnTo>
                    <a:pt x="1042002" y="629256"/>
                  </a:lnTo>
                  <a:cubicBezTo>
                    <a:pt x="1042002" y="651506"/>
                    <a:pt x="1023964" y="669543"/>
                    <a:pt x="1001714" y="669543"/>
                  </a:cubicBezTo>
                  <a:lnTo>
                    <a:pt x="40288" y="669543"/>
                  </a:lnTo>
                  <a:cubicBezTo>
                    <a:pt x="29603" y="669543"/>
                    <a:pt x="19355" y="665299"/>
                    <a:pt x="11800" y="657743"/>
                  </a:cubicBezTo>
                  <a:cubicBezTo>
                    <a:pt x="4245" y="650188"/>
                    <a:pt x="0" y="639941"/>
                    <a:pt x="0" y="629256"/>
                  </a:cubicBezTo>
                  <a:lnTo>
                    <a:pt x="0" y="40288"/>
                  </a:lnTo>
                  <a:cubicBezTo>
                    <a:pt x="0" y="18037"/>
                    <a:pt x="18037" y="0"/>
                    <a:pt x="40288" y="0"/>
                  </a:cubicBezTo>
                  <a:close/>
                </a:path>
              </a:pathLst>
            </a:custGeom>
            <a:blipFill>
              <a:blip r:embed="rId2"/>
              <a:stretch>
                <a:fillRect t="-579" b="-57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28374" y="1028700"/>
            <a:ext cx="6725794" cy="5065771"/>
            <a:chOff x="0" y="0"/>
            <a:chExt cx="1771403" cy="13341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71403" cy="1334195"/>
            </a:xfrm>
            <a:custGeom>
              <a:avLst/>
              <a:gdLst/>
              <a:ahLst/>
              <a:cxnLst/>
              <a:rect l="l" t="t" r="r" b="b"/>
              <a:pathLst>
                <a:path w="1771403" h="1334195">
                  <a:moveTo>
                    <a:pt x="58705" y="0"/>
                  </a:moveTo>
                  <a:lnTo>
                    <a:pt x="1712698" y="0"/>
                  </a:lnTo>
                  <a:cubicBezTo>
                    <a:pt x="1728267" y="0"/>
                    <a:pt x="1743199" y="6185"/>
                    <a:pt x="1754208" y="17194"/>
                  </a:cubicBezTo>
                  <a:cubicBezTo>
                    <a:pt x="1765218" y="28204"/>
                    <a:pt x="1771403" y="43135"/>
                    <a:pt x="1771403" y="58705"/>
                  </a:cubicBezTo>
                  <a:lnTo>
                    <a:pt x="1771403" y="1275490"/>
                  </a:lnTo>
                  <a:cubicBezTo>
                    <a:pt x="1771403" y="1291059"/>
                    <a:pt x="1765218" y="1305991"/>
                    <a:pt x="1754208" y="1317000"/>
                  </a:cubicBezTo>
                  <a:cubicBezTo>
                    <a:pt x="1743199" y="1328010"/>
                    <a:pt x="1728267" y="1334195"/>
                    <a:pt x="1712698" y="1334195"/>
                  </a:cubicBezTo>
                  <a:lnTo>
                    <a:pt x="58705" y="1334195"/>
                  </a:lnTo>
                  <a:cubicBezTo>
                    <a:pt x="43135" y="1334195"/>
                    <a:pt x="28204" y="1328010"/>
                    <a:pt x="17194" y="1317000"/>
                  </a:cubicBezTo>
                  <a:cubicBezTo>
                    <a:pt x="6185" y="1305991"/>
                    <a:pt x="0" y="1291059"/>
                    <a:pt x="0" y="1275490"/>
                  </a:cubicBezTo>
                  <a:lnTo>
                    <a:pt x="0" y="58705"/>
                  </a:lnTo>
                  <a:cubicBezTo>
                    <a:pt x="0" y="43135"/>
                    <a:pt x="6185" y="28204"/>
                    <a:pt x="17194" y="17194"/>
                  </a:cubicBezTo>
                  <a:cubicBezTo>
                    <a:pt x="28204" y="6185"/>
                    <a:pt x="43135" y="0"/>
                    <a:pt x="587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771403" cy="1372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88683" y="1336494"/>
            <a:ext cx="6205176" cy="4485033"/>
            <a:chOff x="0" y="0"/>
            <a:chExt cx="961344" cy="69484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61344" cy="694849"/>
            </a:xfrm>
            <a:custGeom>
              <a:avLst/>
              <a:gdLst/>
              <a:ahLst/>
              <a:cxnLst/>
              <a:rect l="l" t="t" r="r" b="b"/>
              <a:pathLst>
                <a:path w="961344" h="694849">
                  <a:moveTo>
                    <a:pt x="43668" y="0"/>
                  </a:moveTo>
                  <a:lnTo>
                    <a:pt x="917676" y="0"/>
                  </a:lnTo>
                  <a:cubicBezTo>
                    <a:pt x="929258" y="0"/>
                    <a:pt x="940365" y="4601"/>
                    <a:pt x="948554" y="12790"/>
                  </a:cubicBezTo>
                  <a:cubicBezTo>
                    <a:pt x="956743" y="20979"/>
                    <a:pt x="961344" y="32086"/>
                    <a:pt x="961344" y="43668"/>
                  </a:cubicBezTo>
                  <a:lnTo>
                    <a:pt x="961344" y="651181"/>
                  </a:lnTo>
                  <a:cubicBezTo>
                    <a:pt x="961344" y="662762"/>
                    <a:pt x="956743" y="673870"/>
                    <a:pt x="948554" y="682059"/>
                  </a:cubicBezTo>
                  <a:cubicBezTo>
                    <a:pt x="940365" y="690248"/>
                    <a:pt x="929258" y="694849"/>
                    <a:pt x="917676" y="694849"/>
                  </a:cubicBezTo>
                  <a:lnTo>
                    <a:pt x="43668" y="694849"/>
                  </a:lnTo>
                  <a:cubicBezTo>
                    <a:pt x="32086" y="694849"/>
                    <a:pt x="20979" y="690248"/>
                    <a:pt x="12790" y="682059"/>
                  </a:cubicBezTo>
                  <a:cubicBezTo>
                    <a:pt x="4601" y="673870"/>
                    <a:pt x="0" y="662762"/>
                    <a:pt x="0" y="651181"/>
                  </a:cubicBezTo>
                  <a:lnTo>
                    <a:pt x="0" y="43668"/>
                  </a:lnTo>
                  <a:cubicBezTo>
                    <a:pt x="0" y="32086"/>
                    <a:pt x="4601" y="20979"/>
                    <a:pt x="12790" y="12790"/>
                  </a:cubicBezTo>
                  <a:cubicBezTo>
                    <a:pt x="20979" y="4601"/>
                    <a:pt x="32086" y="0"/>
                    <a:pt x="43668" y="0"/>
                  </a:cubicBezTo>
                  <a:close/>
                </a:path>
              </a:pathLst>
            </a:custGeom>
            <a:blipFill>
              <a:blip r:embed="rId3"/>
              <a:stretch>
                <a:fillRect l="-20" r="-2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8057265" y="1704781"/>
            <a:ext cx="9202035" cy="9701511"/>
            <a:chOff x="0" y="0"/>
            <a:chExt cx="2423581" cy="255513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23581" cy="2555131"/>
            </a:xfrm>
            <a:custGeom>
              <a:avLst/>
              <a:gdLst/>
              <a:ahLst/>
              <a:cxnLst/>
              <a:rect l="l" t="t" r="r" b="b"/>
              <a:pathLst>
                <a:path w="2423581" h="2555131">
                  <a:moveTo>
                    <a:pt x="42908" y="0"/>
                  </a:moveTo>
                  <a:lnTo>
                    <a:pt x="2380673" y="0"/>
                  </a:lnTo>
                  <a:cubicBezTo>
                    <a:pt x="2404371" y="0"/>
                    <a:pt x="2423581" y="19210"/>
                    <a:pt x="2423581" y="42908"/>
                  </a:cubicBezTo>
                  <a:lnTo>
                    <a:pt x="2423581" y="2512223"/>
                  </a:lnTo>
                  <a:cubicBezTo>
                    <a:pt x="2423581" y="2535920"/>
                    <a:pt x="2404371" y="2555131"/>
                    <a:pt x="2380673" y="2555131"/>
                  </a:cubicBezTo>
                  <a:lnTo>
                    <a:pt x="42908" y="2555131"/>
                  </a:lnTo>
                  <a:cubicBezTo>
                    <a:pt x="19210" y="2555131"/>
                    <a:pt x="0" y="2535920"/>
                    <a:pt x="0" y="2512223"/>
                  </a:cubicBezTo>
                  <a:lnTo>
                    <a:pt x="0" y="42908"/>
                  </a:lnTo>
                  <a:cubicBezTo>
                    <a:pt x="0" y="19210"/>
                    <a:pt x="19210" y="0"/>
                    <a:pt x="4290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423581" cy="2593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8374" y="8488734"/>
            <a:ext cx="3745347" cy="891770"/>
            <a:chOff x="0" y="0"/>
            <a:chExt cx="1249647" cy="2975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49647" cy="297542"/>
            </a:xfrm>
            <a:custGeom>
              <a:avLst/>
              <a:gdLst/>
              <a:ahLst/>
              <a:cxnLst/>
              <a:rect l="l" t="t" r="r" b="b"/>
              <a:pathLst>
                <a:path w="1249647" h="297542">
                  <a:moveTo>
                    <a:pt x="148771" y="0"/>
                  </a:moveTo>
                  <a:lnTo>
                    <a:pt x="1100876" y="0"/>
                  </a:lnTo>
                  <a:cubicBezTo>
                    <a:pt x="1183040" y="0"/>
                    <a:pt x="1249647" y="66607"/>
                    <a:pt x="1249647" y="148771"/>
                  </a:cubicBezTo>
                  <a:lnTo>
                    <a:pt x="1249647" y="148771"/>
                  </a:lnTo>
                  <a:cubicBezTo>
                    <a:pt x="1249647" y="188227"/>
                    <a:pt x="1233973" y="226068"/>
                    <a:pt x="1206073" y="253968"/>
                  </a:cubicBezTo>
                  <a:cubicBezTo>
                    <a:pt x="1178173" y="281868"/>
                    <a:pt x="1140332" y="297542"/>
                    <a:pt x="1100876" y="297542"/>
                  </a:cubicBezTo>
                  <a:lnTo>
                    <a:pt x="148771" y="297542"/>
                  </a:lnTo>
                  <a:cubicBezTo>
                    <a:pt x="109314" y="297542"/>
                    <a:pt x="71474" y="281868"/>
                    <a:pt x="43574" y="253968"/>
                  </a:cubicBezTo>
                  <a:cubicBezTo>
                    <a:pt x="15674" y="226068"/>
                    <a:pt x="0" y="188227"/>
                    <a:pt x="0" y="148771"/>
                  </a:cubicBezTo>
                  <a:lnTo>
                    <a:pt x="0" y="148771"/>
                  </a:lnTo>
                  <a:cubicBezTo>
                    <a:pt x="0" y="109314"/>
                    <a:pt x="15674" y="71474"/>
                    <a:pt x="43574" y="43574"/>
                  </a:cubicBezTo>
                  <a:cubicBezTo>
                    <a:pt x="71474" y="15674"/>
                    <a:pt x="109314" y="0"/>
                    <a:pt x="148771" y="0"/>
                  </a:cubicBezTo>
                  <a:close/>
                </a:path>
              </a:pathLst>
            </a:custGeom>
            <a:solidFill>
              <a:srgbClr val="FFFFFF">
                <a:alpha val="27843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49647" cy="335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113589" y="8740322"/>
            <a:ext cx="388594" cy="388594"/>
          </a:xfrm>
          <a:custGeom>
            <a:avLst/>
            <a:gdLst/>
            <a:ahLst/>
            <a:cxnLst/>
            <a:rect l="l" t="t" r="r" b="b"/>
            <a:pathLst>
              <a:path w="388594" h="388594">
                <a:moveTo>
                  <a:pt x="0" y="0"/>
                </a:moveTo>
                <a:lnTo>
                  <a:pt x="388594" y="0"/>
                </a:lnTo>
                <a:lnTo>
                  <a:pt x="388594" y="388593"/>
                </a:lnTo>
                <a:lnTo>
                  <a:pt x="0" y="388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4859471" y="8488734"/>
            <a:ext cx="2484917" cy="891770"/>
            <a:chOff x="0" y="0"/>
            <a:chExt cx="829100" cy="2975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29100" cy="297542"/>
            </a:xfrm>
            <a:custGeom>
              <a:avLst/>
              <a:gdLst/>
              <a:ahLst/>
              <a:cxnLst/>
              <a:rect l="l" t="t" r="r" b="b"/>
              <a:pathLst>
                <a:path w="829100" h="297542">
                  <a:moveTo>
                    <a:pt x="148771" y="0"/>
                  </a:moveTo>
                  <a:lnTo>
                    <a:pt x="680329" y="0"/>
                  </a:lnTo>
                  <a:cubicBezTo>
                    <a:pt x="762493" y="0"/>
                    <a:pt x="829100" y="66607"/>
                    <a:pt x="829100" y="148771"/>
                  </a:cubicBezTo>
                  <a:lnTo>
                    <a:pt x="829100" y="148771"/>
                  </a:lnTo>
                  <a:cubicBezTo>
                    <a:pt x="829100" y="188227"/>
                    <a:pt x="813426" y="226068"/>
                    <a:pt x="785526" y="253968"/>
                  </a:cubicBezTo>
                  <a:cubicBezTo>
                    <a:pt x="757626" y="281868"/>
                    <a:pt x="719786" y="297542"/>
                    <a:pt x="680329" y="297542"/>
                  </a:cubicBezTo>
                  <a:lnTo>
                    <a:pt x="148771" y="297542"/>
                  </a:lnTo>
                  <a:cubicBezTo>
                    <a:pt x="109314" y="297542"/>
                    <a:pt x="71474" y="281868"/>
                    <a:pt x="43574" y="253968"/>
                  </a:cubicBezTo>
                  <a:cubicBezTo>
                    <a:pt x="15674" y="226068"/>
                    <a:pt x="0" y="188227"/>
                    <a:pt x="0" y="148771"/>
                  </a:cubicBezTo>
                  <a:lnTo>
                    <a:pt x="0" y="148771"/>
                  </a:lnTo>
                  <a:cubicBezTo>
                    <a:pt x="0" y="109314"/>
                    <a:pt x="15674" y="71474"/>
                    <a:pt x="43574" y="43574"/>
                  </a:cubicBezTo>
                  <a:cubicBezTo>
                    <a:pt x="71474" y="15674"/>
                    <a:pt x="109314" y="0"/>
                    <a:pt x="148771" y="0"/>
                  </a:cubicBezTo>
                  <a:close/>
                </a:path>
              </a:pathLst>
            </a:custGeom>
            <a:solidFill>
              <a:srgbClr val="FFFFFF">
                <a:alpha val="27843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29100" cy="335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5950746" y="8740322"/>
            <a:ext cx="352560" cy="388594"/>
          </a:xfrm>
          <a:custGeom>
            <a:avLst/>
            <a:gdLst/>
            <a:ahLst/>
            <a:cxnLst/>
            <a:rect l="l" t="t" r="r" b="b"/>
            <a:pathLst>
              <a:path w="352560" h="388594">
                <a:moveTo>
                  <a:pt x="0" y="0"/>
                </a:moveTo>
                <a:lnTo>
                  <a:pt x="352560" y="0"/>
                </a:lnTo>
                <a:lnTo>
                  <a:pt x="352560" y="388593"/>
                </a:lnTo>
                <a:lnTo>
                  <a:pt x="0" y="388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200180" y="8740322"/>
            <a:ext cx="417435" cy="388594"/>
          </a:xfrm>
          <a:custGeom>
            <a:avLst/>
            <a:gdLst/>
            <a:ahLst/>
            <a:cxnLst/>
            <a:rect l="l" t="t" r="r" b="b"/>
            <a:pathLst>
              <a:path w="417435" h="388594">
                <a:moveTo>
                  <a:pt x="0" y="0"/>
                </a:moveTo>
                <a:lnTo>
                  <a:pt x="417435" y="0"/>
                </a:lnTo>
                <a:lnTo>
                  <a:pt x="417435" y="388593"/>
                </a:lnTo>
                <a:lnTo>
                  <a:pt x="0" y="388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607496" y="8740322"/>
            <a:ext cx="312995" cy="388594"/>
          </a:xfrm>
          <a:custGeom>
            <a:avLst/>
            <a:gdLst/>
            <a:ahLst/>
            <a:cxnLst/>
            <a:rect l="l" t="t" r="r" b="b"/>
            <a:pathLst>
              <a:path w="312995" h="388594">
                <a:moveTo>
                  <a:pt x="0" y="0"/>
                </a:moveTo>
                <a:lnTo>
                  <a:pt x="312995" y="0"/>
                </a:lnTo>
                <a:lnTo>
                  <a:pt x="312995" y="388593"/>
                </a:lnTo>
                <a:lnTo>
                  <a:pt x="0" y="388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4014418" y="516424"/>
            <a:ext cx="3244882" cy="820070"/>
          </a:xfrm>
          <a:custGeom>
            <a:avLst/>
            <a:gdLst/>
            <a:ahLst/>
            <a:cxnLst/>
            <a:rect l="l" t="t" r="r" b="b"/>
            <a:pathLst>
              <a:path w="3244882" h="820070">
                <a:moveTo>
                  <a:pt x="0" y="0"/>
                </a:moveTo>
                <a:lnTo>
                  <a:pt x="3244882" y="0"/>
                </a:lnTo>
                <a:lnTo>
                  <a:pt x="3244882" y="820070"/>
                </a:lnTo>
                <a:lnTo>
                  <a:pt x="0" y="820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AutoShape 23"/>
          <p:cNvSpPr/>
          <p:nvPr/>
        </p:nvSpPr>
        <p:spPr>
          <a:xfrm flipV="1">
            <a:off x="8690179" y="5996346"/>
            <a:ext cx="7273995" cy="0"/>
          </a:xfrm>
          <a:prstGeom prst="line">
            <a:avLst/>
          </a:prstGeom>
          <a:ln w="38100" cap="flat">
            <a:solidFill>
              <a:srgbClr val="1514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4"/>
          <p:cNvSpPr txBox="1"/>
          <p:nvPr/>
        </p:nvSpPr>
        <p:spPr>
          <a:xfrm>
            <a:off x="8690179" y="2324677"/>
            <a:ext cx="7273995" cy="2067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14"/>
              </a:lnSpc>
            </a:pPr>
            <a:r>
              <a:rPr lang="en-US" sz="7994" spc="-439">
                <a:solidFill>
                  <a:srgbClr val="151414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Platform Features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90179" y="4572116"/>
            <a:ext cx="5322787" cy="61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47"/>
              </a:lnSpc>
            </a:pPr>
            <a:r>
              <a:rPr lang="en-US" sz="1647" spc="-34">
                <a:solidFill>
                  <a:srgbClr val="15141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MERN-powered marketplace connecting food donors with NGOs — making excess food redistribution seamless, fast, and impactful.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88025" y="8770471"/>
            <a:ext cx="2440025" cy="375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</a:pPr>
            <a:r>
              <a:rPr lang="en-US" sz="2798" spc="-5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Explore Features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90179" y="6348060"/>
            <a:ext cx="3636998" cy="272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</a:pPr>
            <a:r>
              <a:rPr lang="en-US" sz="2098" b="1" spc="-44">
                <a:solidFill>
                  <a:srgbClr val="15141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Create Food Listings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90179" y="6696675"/>
            <a:ext cx="3330136" cy="61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47"/>
              </a:lnSpc>
            </a:pPr>
            <a:r>
              <a:rPr lang="en-US" sz="1647" spc="-34">
                <a:solidFill>
                  <a:srgbClr val="15141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Donors can quickly list excess food with details like quantity, type, expiry, and pickup location in minutes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955827" y="6348060"/>
            <a:ext cx="3636998" cy="272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</a:pPr>
            <a:r>
              <a:rPr lang="en-US" sz="2098" b="1" spc="-44">
                <a:solidFill>
                  <a:srgbClr val="15141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Browse &amp; Filter Donations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955827" y="6696675"/>
            <a:ext cx="3330136" cy="61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47"/>
              </a:lnSpc>
            </a:pPr>
            <a:r>
              <a:rPr lang="en-US" sz="1647" spc="-34">
                <a:solidFill>
                  <a:srgbClr val="15141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NGOs can search available donations by food type, location, and availability using smart real-time filters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90179" y="7985928"/>
            <a:ext cx="3636998" cy="272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</a:pPr>
            <a:r>
              <a:rPr lang="en-US" sz="2098" b="1" spc="-44">
                <a:solidFill>
                  <a:srgbClr val="15141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NGO Matching System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90179" y="8334543"/>
            <a:ext cx="3330136" cy="61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47"/>
              </a:lnSpc>
            </a:pPr>
            <a:r>
              <a:rPr lang="en-US" sz="1647" spc="-34">
                <a:solidFill>
                  <a:srgbClr val="15141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Algorithm automatically matches food listings with nearby registered NGOs based on need and proximity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955827" y="7985928"/>
            <a:ext cx="3330136" cy="272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</a:pPr>
            <a:r>
              <a:rPr lang="en-US" sz="2098" b="1" spc="-44">
                <a:solidFill>
                  <a:srgbClr val="15141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Track &amp; Manage Claims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955827" y="8334543"/>
            <a:ext cx="3000158" cy="613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47"/>
              </a:lnSpc>
            </a:pPr>
            <a:r>
              <a:rPr lang="en-US" sz="1647" spc="-34">
                <a:solidFill>
                  <a:srgbClr val="15141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Monitor claim status, schedule pickups, and track distribution from donation to delivery in real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01064" y="1906941"/>
            <a:ext cx="9925957" cy="8902629"/>
            <a:chOff x="0" y="0"/>
            <a:chExt cx="2614244" cy="2344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14244" cy="2344725"/>
            </a:xfrm>
            <a:custGeom>
              <a:avLst/>
              <a:gdLst/>
              <a:ahLst/>
              <a:cxnLst/>
              <a:rect l="l" t="t" r="r" b="b"/>
              <a:pathLst>
                <a:path w="2614244" h="2344725">
                  <a:moveTo>
                    <a:pt x="39778" y="0"/>
                  </a:moveTo>
                  <a:lnTo>
                    <a:pt x="2574465" y="0"/>
                  </a:lnTo>
                  <a:cubicBezTo>
                    <a:pt x="2596434" y="0"/>
                    <a:pt x="2614244" y="17809"/>
                    <a:pt x="2614244" y="39778"/>
                  </a:cubicBezTo>
                  <a:lnTo>
                    <a:pt x="2614244" y="2304947"/>
                  </a:lnTo>
                  <a:cubicBezTo>
                    <a:pt x="2614244" y="2315497"/>
                    <a:pt x="2610053" y="2325615"/>
                    <a:pt x="2602593" y="2333074"/>
                  </a:cubicBezTo>
                  <a:cubicBezTo>
                    <a:pt x="2595133" y="2340534"/>
                    <a:pt x="2585015" y="2344725"/>
                    <a:pt x="2574465" y="2344725"/>
                  </a:cubicBezTo>
                  <a:lnTo>
                    <a:pt x="39778" y="2344725"/>
                  </a:lnTo>
                  <a:cubicBezTo>
                    <a:pt x="17809" y="2344725"/>
                    <a:pt x="0" y="2326916"/>
                    <a:pt x="0" y="2304947"/>
                  </a:cubicBezTo>
                  <a:lnTo>
                    <a:pt x="0" y="39778"/>
                  </a:lnTo>
                  <a:cubicBezTo>
                    <a:pt x="0" y="29228"/>
                    <a:pt x="4191" y="19111"/>
                    <a:pt x="11651" y="11651"/>
                  </a:cubicBezTo>
                  <a:cubicBezTo>
                    <a:pt x="19111" y="4191"/>
                    <a:pt x="29228" y="0"/>
                    <a:pt x="3977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14244" cy="2382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0320" y="427644"/>
            <a:ext cx="8464497" cy="8082680"/>
            <a:chOff x="0" y="0"/>
            <a:chExt cx="1311372" cy="12522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11372" cy="1252219"/>
            </a:xfrm>
            <a:custGeom>
              <a:avLst/>
              <a:gdLst/>
              <a:ahLst/>
              <a:cxnLst/>
              <a:rect l="l" t="t" r="r" b="b"/>
              <a:pathLst>
                <a:path w="1311372" h="1252219">
                  <a:moveTo>
                    <a:pt x="32012" y="0"/>
                  </a:moveTo>
                  <a:lnTo>
                    <a:pt x="1279360" y="0"/>
                  </a:lnTo>
                  <a:cubicBezTo>
                    <a:pt x="1287850" y="0"/>
                    <a:pt x="1295993" y="3373"/>
                    <a:pt x="1301996" y="9376"/>
                  </a:cubicBezTo>
                  <a:cubicBezTo>
                    <a:pt x="1308000" y="15380"/>
                    <a:pt x="1311372" y="23522"/>
                    <a:pt x="1311372" y="32012"/>
                  </a:cubicBezTo>
                  <a:lnTo>
                    <a:pt x="1311372" y="1220207"/>
                  </a:lnTo>
                  <a:cubicBezTo>
                    <a:pt x="1311372" y="1228697"/>
                    <a:pt x="1308000" y="1236839"/>
                    <a:pt x="1301996" y="1242843"/>
                  </a:cubicBezTo>
                  <a:cubicBezTo>
                    <a:pt x="1295993" y="1248846"/>
                    <a:pt x="1287850" y="1252219"/>
                    <a:pt x="1279360" y="1252219"/>
                  </a:cubicBezTo>
                  <a:lnTo>
                    <a:pt x="32012" y="1252219"/>
                  </a:lnTo>
                  <a:cubicBezTo>
                    <a:pt x="23522" y="1252219"/>
                    <a:pt x="15380" y="1248846"/>
                    <a:pt x="9376" y="1242843"/>
                  </a:cubicBezTo>
                  <a:cubicBezTo>
                    <a:pt x="3373" y="1236839"/>
                    <a:pt x="0" y="1228697"/>
                    <a:pt x="0" y="1220207"/>
                  </a:cubicBezTo>
                  <a:lnTo>
                    <a:pt x="0" y="32012"/>
                  </a:lnTo>
                  <a:cubicBezTo>
                    <a:pt x="0" y="23522"/>
                    <a:pt x="3373" y="15380"/>
                    <a:pt x="9376" y="9376"/>
                  </a:cubicBezTo>
                  <a:cubicBezTo>
                    <a:pt x="15380" y="3373"/>
                    <a:pt x="23522" y="0"/>
                    <a:pt x="32012" y="0"/>
                  </a:cubicBezTo>
                  <a:close/>
                </a:path>
              </a:pathLst>
            </a:custGeom>
            <a:blipFill>
              <a:blip r:embed="rId2"/>
              <a:stretch>
                <a:fillRect l="-59" r="-59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4790055" y="647700"/>
            <a:ext cx="2484917" cy="891770"/>
            <a:chOff x="0" y="0"/>
            <a:chExt cx="829100" cy="2975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29100" cy="297542"/>
            </a:xfrm>
            <a:custGeom>
              <a:avLst/>
              <a:gdLst/>
              <a:ahLst/>
              <a:cxnLst/>
              <a:rect l="l" t="t" r="r" b="b"/>
              <a:pathLst>
                <a:path w="829100" h="297542">
                  <a:moveTo>
                    <a:pt x="148771" y="0"/>
                  </a:moveTo>
                  <a:lnTo>
                    <a:pt x="680329" y="0"/>
                  </a:lnTo>
                  <a:cubicBezTo>
                    <a:pt x="762493" y="0"/>
                    <a:pt x="829100" y="66607"/>
                    <a:pt x="829100" y="148771"/>
                  </a:cubicBezTo>
                  <a:lnTo>
                    <a:pt x="829100" y="148771"/>
                  </a:lnTo>
                  <a:cubicBezTo>
                    <a:pt x="829100" y="188227"/>
                    <a:pt x="813426" y="226068"/>
                    <a:pt x="785526" y="253968"/>
                  </a:cubicBezTo>
                  <a:cubicBezTo>
                    <a:pt x="757626" y="281868"/>
                    <a:pt x="719786" y="297542"/>
                    <a:pt x="680329" y="297542"/>
                  </a:cubicBezTo>
                  <a:lnTo>
                    <a:pt x="148771" y="297542"/>
                  </a:lnTo>
                  <a:cubicBezTo>
                    <a:pt x="109314" y="297542"/>
                    <a:pt x="71474" y="281868"/>
                    <a:pt x="43574" y="253968"/>
                  </a:cubicBezTo>
                  <a:cubicBezTo>
                    <a:pt x="15674" y="226068"/>
                    <a:pt x="0" y="188227"/>
                    <a:pt x="0" y="148771"/>
                  </a:cubicBezTo>
                  <a:lnTo>
                    <a:pt x="0" y="148771"/>
                  </a:lnTo>
                  <a:cubicBezTo>
                    <a:pt x="0" y="109314"/>
                    <a:pt x="15674" y="71474"/>
                    <a:pt x="43574" y="43574"/>
                  </a:cubicBezTo>
                  <a:cubicBezTo>
                    <a:pt x="71474" y="15674"/>
                    <a:pt x="109314" y="0"/>
                    <a:pt x="148771" y="0"/>
                  </a:cubicBezTo>
                  <a:close/>
                </a:path>
              </a:pathLst>
            </a:custGeom>
            <a:solidFill>
              <a:srgbClr val="FFFFFF">
                <a:alpha val="27843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29100" cy="335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881330" y="899288"/>
            <a:ext cx="352560" cy="388594"/>
          </a:xfrm>
          <a:custGeom>
            <a:avLst/>
            <a:gdLst/>
            <a:ahLst/>
            <a:cxnLst/>
            <a:rect l="l" t="t" r="r" b="b"/>
            <a:pathLst>
              <a:path w="352560" h="388594">
                <a:moveTo>
                  <a:pt x="0" y="0"/>
                </a:moveTo>
                <a:lnTo>
                  <a:pt x="352560" y="0"/>
                </a:lnTo>
                <a:lnTo>
                  <a:pt x="352560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130764" y="899288"/>
            <a:ext cx="417435" cy="388594"/>
          </a:xfrm>
          <a:custGeom>
            <a:avLst/>
            <a:gdLst/>
            <a:ahLst/>
            <a:cxnLst/>
            <a:rect l="l" t="t" r="r" b="b"/>
            <a:pathLst>
              <a:path w="417435" h="388594">
                <a:moveTo>
                  <a:pt x="0" y="0"/>
                </a:moveTo>
                <a:lnTo>
                  <a:pt x="417434" y="0"/>
                </a:lnTo>
                <a:lnTo>
                  <a:pt x="417434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538080" y="899288"/>
            <a:ext cx="312995" cy="388594"/>
          </a:xfrm>
          <a:custGeom>
            <a:avLst/>
            <a:gdLst/>
            <a:ahLst/>
            <a:cxnLst/>
            <a:rect l="l" t="t" r="r" b="b"/>
            <a:pathLst>
              <a:path w="312995" h="388594">
                <a:moveTo>
                  <a:pt x="0" y="0"/>
                </a:moveTo>
                <a:lnTo>
                  <a:pt x="312994" y="0"/>
                </a:lnTo>
                <a:lnTo>
                  <a:pt x="312994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AutoShape 13"/>
          <p:cNvSpPr/>
          <p:nvPr/>
        </p:nvSpPr>
        <p:spPr>
          <a:xfrm flipV="1">
            <a:off x="10271055" y="6905008"/>
            <a:ext cx="4875897" cy="0"/>
          </a:xfrm>
          <a:prstGeom prst="line">
            <a:avLst/>
          </a:prstGeom>
          <a:ln w="19050" cap="flat">
            <a:solidFill>
              <a:srgbClr val="1514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10271055" y="7686264"/>
            <a:ext cx="4875897" cy="0"/>
          </a:xfrm>
          <a:prstGeom prst="line">
            <a:avLst/>
          </a:prstGeom>
          <a:ln w="19050" cap="flat">
            <a:solidFill>
              <a:srgbClr val="1514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V="1">
            <a:off x="10271055" y="8467519"/>
            <a:ext cx="4875897" cy="0"/>
          </a:xfrm>
          <a:prstGeom prst="line">
            <a:avLst/>
          </a:prstGeom>
          <a:ln w="19050" cap="flat">
            <a:solidFill>
              <a:srgbClr val="15141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 flipV="1">
            <a:off x="10271055" y="9248775"/>
            <a:ext cx="4875897" cy="0"/>
          </a:xfrm>
          <a:prstGeom prst="line">
            <a:avLst/>
          </a:prstGeom>
          <a:ln w="19050" cap="flat">
            <a:solidFill>
              <a:srgbClr val="15141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7"/>
          <p:cNvGrpSpPr/>
          <p:nvPr/>
        </p:nvGrpSpPr>
        <p:grpSpPr>
          <a:xfrm>
            <a:off x="9328080" y="647700"/>
            <a:ext cx="3846144" cy="891770"/>
            <a:chOff x="0" y="0"/>
            <a:chExt cx="1283278" cy="29754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83278" cy="297542"/>
            </a:xfrm>
            <a:custGeom>
              <a:avLst/>
              <a:gdLst/>
              <a:ahLst/>
              <a:cxnLst/>
              <a:rect l="l" t="t" r="r" b="b"/>
              <a:pathLst>
                <a:path w="1283278" h="297542">
                  <a:moveTo>
                    <a:pt x="148771" y="0"/>
                  </a:moveTo>
                  <a:lnTo>
                    <a:pt x="1134507" y="0"/>
                  </a:lnTo>
                  <a:cubicBezTo>
                    <a:pt x="1173963" y="0"/>
                    <a:pt x="1211804" y="15674"/>
                    <a:pt x="1239704" y="43574"/>
                  </a:cubicBezTo>
                  <a:cubicBezTo>
                    <a:pt x="1267604" y="71474"/>
                    <a:pt x="1283278" y="109314"/>
                    <a:pt x="1283278" y="148771"/>
                  </a:cubicBezTo>
                  <a:lnTo>
                    <a:pt x="1283278" y="148771"/>
                  </a:lnTo>
                  <a:cubicBezTo>
                    <a:pt x="1283278" y="188227"/>
                    <a:pt x="1267604" y="226068"/>
                    <a:pt x="1239704" y="253968"/>
                  </a:cubicBezTo>
                  <a:cubicBezTo>
                    <a:pt x="1211804" y="281868"/>
                    <a:pt x="1173963" y="297542"/>
                    <a:pt x="1134507" y="297542"/>
                  </a:cubicBezTo>
                  <a:lnTo>
                    <a:pt x="148771" y="297542"/>
                  </a:lnTo>
                  <a:cubicBezTo>
                    <a:pt x="109314" y="297542"/>
                    <a:pt x="71474" y="281868"/>
                    <a:pt x="43574" y="253968"/>
                  </a:cubicBezTo>
                  <a:cubicBezTo>
                    <a:pt x="15674" y="226068"/>
                    <a:pt x="0" y="188227"/>
                    <a:pt x="0" y="148771"/>
                  </a:cubicBezTo>
                  <a:lnTo>
                    <a:pt x="0" y="148771"/>
                  </a:lnTo>
                  <a:cubicBezTo>
                    <a:pt x="0" y="109314"/>
                    <a:pt x="15674" y="71474"/>
                    <a:pt x="43574" y="43574"/>
                  </a:cubicBezTo>
                  <a:cubicBezTo>
                    <a:pt x="71474" y="15674"/>
                    <a:pt x="109314" y="0"/>
                    <a:pt x="148771" y="0"/>
                  </a:cubicBezTo>
                  <a:close/>
                </a:path>
              </a:pathLst>
            </a:custGeom>
            <a:solidFill>
              <a:srgbClr val="FFFFFF">
                <a:alpha val="27843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283278" cy="335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9613295" y="899288"/>
            <a:ext cx="388594" cy="388594"/>
          </a:xfrm>
          <a:custGeom>
            <a:avLst/>
            <a:gdLst/>
            <a:ahLst/>
            <a:cxnLst/>
            <a:rect l="l" t="t" r="r" b="b"/>
            <a:pathLst>
              <a:path w="388594" h="388594">
                <a:moveTo>
                  <a:pt x="0" y="0"/>
                </a:moveTo>
                <a:lnTo>
                  <a:pt x="388594" y="0"/>
                </a:lnTo>
                <a:lnTo>
                  <a:pt x="388594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30320" y="8856139"/>
            <a:ext cx="3244882" cy="820070"/>
          </a:xfrm>
          <a:custGeom>
            <a:avLst/>
            <a:gdLst/>
            <a:ahLst/>
            <a:cxnLst/>
            <a:rect l="l" t="t" r="r" b="b"/>
            <a:pathLst>
              <a:path w="3244882" h="820070">
                <a:moveTo>
                  <a:pt x="0" y="0"/>
                </a:moveTo>
                <a:lnTo>
                  <a:pt x="3244882" y="0"/>
                </a:lnTo>
                <a:lnTo>
                  <a:pt x="3244882" y="820071"/>
                </a:lnTo>
                <a:lnTo>
                  <a:pt x="0" y="820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0271055" y="2603773"/>
            <a:ext cx="7273995" cy="2067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14"/>
              </a:lnSpc>
            </a:pPr>
            <a:r>
              <a:rPr lang="en-US" sz="7994" spc="-439">
                <a:solidFill>
                  <a:srgbClr val="151414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Donation</a:t>
            </a:r>
          </a:p>
          <a:p>
            <a:pPr marL="0" lvl="0" indent="0" algn="l">
              <a:lnSpc>
                <a:spcPts val="7114"/>
              </a:lnSpc>
            </a:pPr>
            <a:r>
              <a:rPr lang="en-US" sz="7994" spc="-439">
                <a:solidFill>
                  <a:srgbClr val="151414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Workflow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71055" y="5051238"/>
            <a:ext cx="5422517" cy="786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</a:pPr>
            <a:r>
              <a:rPr lang="en-US" sz="2098" spc="-44">
                <a:solidFill>
                  <a:srgbClr val="15141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seamless step-by-step process connecting food donors with NGOs to ensure excess food reaches those in need quickly and efficiently.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61555" y="6380928"/>
            <a:ext cx="4328500" cy="25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89"/>
              </a:lnSpc>
            </a:pPr>
            <a:r>
              <a:rPr lang="en-US" sz="1889" b="1" spc="-39">
                <a:solidFill>
                  <a:srgbClr val="15141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Donor Posts Food Details &amp; Quantity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61555" y="7162183"/>
            <a:ext cx="3446498" cy="25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89"/>
              </a:lnSpc>
            </a:pPr>
            <a:r>
              <a:rPr lang="en-US" sz="1889" b="1" spc="-39">
                <a:solidFill>
                  <a:srgbClr val="15141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NGOs Discover Suitable Listings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61555" y="7943439"/>
            <a:ext cx="4328500" cy="25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89"/>
              </a:lnSpc>
            </a:pPr>
            <a:r>
              <a:rPr lang="en-US" sz="1889" b="1" spc="-39">
                <a:solidFill>
                  <a:srgbClr val="15141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NGO Submits a Claim Request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61555" y="8724694"/>
            <a:ext cx="4328500" cy="25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89"/>
              </a:lnSpc>
            </a:pPr>
            <a:r>
              <a:rPr lang="en-US" sz="1889" b="1" spc="-39">
                <a:solidFill>
                  <a:srgbClr val="15141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Donor &amp; NGO Coordinate Pickup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731" y="919912"/>
            <a:ext cx="2440025" cy="340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</a:pPr>
            <a:r>
              <a:rPr lang="en-US" sz="2519" spc="-5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See More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493323" y="719655"/>
            <a:ext cx="4032075" cy="5404878"/>
            <a:chOff x="0" y="0"/>
            <a:chExt cx="624674" cy="837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4674" cy="837357"/>
            </a:xfrm>
            <a:custGeom>
              <a:avLst/>
              <a:gdLst/>
              <a:ahLst/>
              <a:cxnLst/>
              <a:rect l="l" t="t" r="r" b="b"/>
              <a:pathLst>
                <a:path w="624674" h="837357">
                  <a:moveTo>
                    <a:pt x="67203" y="0"/>
                  </a:moveTo>
                  <a:lnTo>
                    <a:pt x="557471" y="0"/>
                  </a:lnTo>
                  <a:cubicBezTo>
                    <a:pt x="594586" y="0"/>
                    <a:pt x="624674" y="30088"/>
                    <a:pt x="624674" y="67203"/>
                  </a:cubicBezTo>
                  <a:lnTo>
                    <a:pt x="624674" y="770154"/>
                  </a:lnTo>
                  <a:cubicBezTo>
                    <a:pt x="624674" y="807269"/>
                    <a:pt x="594586" y="837357"/>
                    <a:pt x="557471" y="837357"/>
                  </a:cubicBezTo>
                  <a:lnTo>
                    <a:pt x="67203" y="837357"/>
                  </a:lnTo>
                  <a:cubicBezTo>
                    <a:pt x="30088" y="837357"/>
                    <a:pt x="0" y="807269"/>
                    <a:pt x="0" y="770154"/>
                  </a:cubicBezTo>
                  <a:lnTo>
                    <a:pt x="0" y="67203"/>
                  </a:lnTo>
                  <a:cubicBezTo>
                    <a:pt x="0" y="30088"/>
                    <a:pt x="30088" y="0"/>
                    <a:pt x="67203" y="0"/>
                  </a:cubicBezTo>
                  <a:close/>
                </a:path>
              </a:pathLst>
            </a:custGeom>
            <a:blipFill>
              <a:blip r:embed="rId2"/>
              <a:stretch>
                <a:fillRect l="-16" r="-1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62602" y="6441861"/>
            <a:ext cx="5445007" cy="2816439"/>
            <a:chOff x="0" y="0"/>
            <a:chExt cx="1434076" cy="74177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34076" cy="741778"/>
            </a:xfrm>
            <a:custGeom>
              <a:avLst/>
              <a:gdLst/>
              <a:ahLst/>
              <a:cxnLst/>
              <a:rect l="l" t="t" r="r" b="b"/>
              <a:pathLst>
                <a:path w="1434076" h="741778">
                  <a:moveTo>
                    <a:pt x="44077" y="0"/>
                  </a:moveTo>
                  <a:lnTo>
                    <a:pt x="1389999" y="0"/>
                  </a:lnTo>
                  <a:cubicBezTo>
                    <a:pt x="1414342" y="0"/>
                    <a:pt x="1434076" y="19734"/>
                    <a:pt x="1434076" y="44077"/>
                  </a:cubicBezTo>
                  <a:lnTo>
                    <a:pt x="1434076" y="697701"/>
                  </a:lnTo>
                  <a:cubicBezTo>
                    <a:pt x="1434076" y="722044"/>
                    <a:pt x="1414342" y="741778"/>
                    <a:pt x="1389999" y="741778"/>
                  </a:cubicBezTo>
                  <a:lnTo>
                    <a:pt x="44077" y="741778"/>
                  </a:lnTo>
                  <a:cubicBezTo>
                    <a:pt x="32387" y="741778"/>
                    <a:pt x="21176" y="737134"/>
                    <a:pt x="12910" y="728868"/>
                  </a:cubicBezTo>
                  <a:cubicBezTo>
                    <a:pt x="4644" y="720602"/>
                    <a:pt x="0" y="709391"/>
                    <a:pt x="0" y="697701"/>
                  </a:cubicBezTo>
                  <a:lnTo>
                    <a:pt x="0" y="44077"/>
                  </a:lnTo>
                  <a:cubicBezTo>
                    <a:pt x="0" y="19734"/>
                    <a:pt x="19734" y="0"/>
                    <a:pt x="4407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434076" cy="779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21497" y="6441861"/>
            <a:ext cx="5445007" cy="2816439"/>
            <a:chOff x="0" y="0"/>
            <a:chExt cx="1434076" cy="74177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34076" cy="741778"/>
            </a:xfrm>
            <a:custGeom>
              <a:avLst/>
              <a:gdLst/>
              <a:ahLst/>
              <a:cxnLst/>
              <a:rect l="l" t="t" r="r" b="b"/>
              <a:pathLst>
                <a:path w="1434076" h="741778">
                  <a:moveTo>
                    <a:pt x="44077" y="0"/>
                  </a:moveTo>
                  <a:lnTo>
                    <a:pt x="1389999" y="0"/>
                  </a:lnTo>
                  <a:cubicBezTo>
                    <a:pt x="1414342" y="0"/>
                    <a:pt x="1434076" y="19734"/>
                    <a:pt x="1434076" y="44077"/>
                  </a:cubicBezTo>
                  <a:lnTo>
                    <a:pt x="1434076" y="697701"/>
                  </a:lnTo>
                  <a:cubicBezTo>
                    <a:pt x="1434076" y="722044"/>
                    <a:pt x="1414342" y="741778"/>
                    <a:pt x="1389999" y="741778"/>
                  </a:cubicBezTo>
                  <a:lnTo>
                    <a:pt x="44077" y="741778"/>
                  </a:lnTo>
                  <a:cubicBezTo>
                    <a:pt x="32387" y="741778"/>
                    <a:pt x="21176" y="737134"/>
                    <a:pt x="12910" y="728868"/>
                  </a:cubicBezTo>
                  <a:cubicBezTo>
                    <a:pt x="4644" y="720602"/>
                    <a:pt x="0" y="709391"/>
                    <a:pt x="0" y="697701"/>
                  </a:cubicBezTo>
                  <a:lnTo>
                    <a:pt x="0" y="44077"/>
                  </a:lnTo>
                  <a:cubicBezTo>
                    <a:pt x="0" y="19734"/>
                    <a:pt x="19734" y="0"/>
                    <a:pt x="4407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434076" cy="779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080391" y="6441861"/>
            <a:ext cx="5445007" cy="2816439"/>
            <a:chOff x="0" y="0"/>
            <a:chExt cx="1434076" cy="74177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34076" cy="741778"/>
            </a:xfrm>
            <a:custGeom>
              <a:avLst/>
              <a:gdLst/>
              <a:ahLst/>
              <a:cxnLst/>
              <a:rect l="l" t="t" r="r" b="b"/>
              <a:pathLst>
                <a:path w="1434076" h="741778">
                  <a:moveTo>
                    <a:pt x="44077" y="0"/>
                  </a:moveTo>
                  <a:lnTo>
                    <a:pt x="1389999" y="0"/>
                  </a:lnTo>
                  <a:cubicBezTo>
                    <a:pt x="1414342" y="0"/>
                    <a:pt x="1434076" y="19734"/>
                    <a:pt x="1434076" y="44077"/>
                  </a:cubicBezTo>
                  <a:lnTo>
                    <a:pt x="1434076" y="697701"/>
                  </a:lnTo>
                  <a:cubicBezTo>
                    <a:pt x="1434076" y="722044"/>
                    <a:pt x="1414342" y="741778"/>
                    <a:pt x="1389999" y="741778"/>
                  </a:cubicBezTo>
                  <a:lnTo>
                    <a:pt x="44077" y="741778"/>
                  </a:lnTo>
                  <a:cubicBezTo>
                    <a:pt x="32387" y="741778"/>
                    <a:pt x="21176" y="737134"/>
                    <a:pt x="12910" y="728868"/>
                  </a:cubicBezTo>
                  <a:cubicBezTo>
                    <a:pt x="4644" y="720602"/>
                    <a:pt x="0" y="709391"/>
                    <a:pt x="0" y="697701"/>
                  </a:cubicBezTo>
                  <a:lnTo>
                    <a:pt x="0" y="44077"/>
                  </a:lnTo>
                  <a:cubicBezTo>
                    <a:pt x="0" y="19734"/>
                    <a:pt x="19734" y="0"/>
                    <a:pt x="4407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434076" cy="779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582815"/>
            <a:ext cx="3399676" cy="891770"/>
            <a:chOff x="0" y="0"/>
            <a:chExt cx="1134312" cy="29754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34312" cy="297542"/>
            </a:xfrm>
            <a:custGeom>
              <a:avLst/>
              <a:gdLst/>
              <a:ahLst/>
              <a:cxnLst/>
              <a:rect l="l" t="t" r="r" b="b"/>
              <a:pathLst>
                <a:path w="1134312" h="297542">
                  <a:moveTo>
                    <a:pt x="148771" y="0"/>
                  </a:moveTo>
                  <a:lnTo>
                    <a:pt x="985541" y="0"/>
                  </a:lnTo>
                  <a:cubicBezTo>
                    <a:pt x="1024998" y="0"/>
                    <a:pt x="1062838" y="15674"/>
                    <a:pt x="1090738" y="43574"/>
                  </a:cubicBezTo>
                  <a:cubicBezTo>
                    <a:pt x="1118638" y="71474"/>
                    <a:pt x="1134312" y="109314"/>
                    <a:pt x="1134312" y="148771"/>
                  </a:cubicBezTo>
                  <a:lnTo>
                    <a:pt x="1134312" y="148771"/>
                  </a:lnTo>
                  <a:cubicBezTo>
                    <a:pt x="1134312" y="188227"/>
                    <a:pt x="1118638" y="226068"/>
                    <a:pt x="1090738" y="253968"/>
                  </a:cubicBezTo>
                  <a:cubicBezTo>
                    <a:pt x="1062838" y="281868"/>
                    <a:pt x="1024998" y="297542"/>
                    <a:pt x="985541" y="297542"/>
                  </a:cubicBezTo>
                  <a:lnTo>
                    <a:pt x="148771" y="297542"/>
                  </a:lnTo>
                  <a:cubicBezTo>
                    <a:pt x="109314" y="297542"/>
                    <a:pt x="71474" y="281868"/>
                    <a:pt x="43574" y="253968"/>
                  </a:cubicBezTo>
                  <a:cubicBezTo>
                    <a:pt x="15674" y="226068"/>
                    <a:pt x="0" y="188227"/>
                    <a:pt x="0" y="148771"/>
                  </a:cubicBezTo>
                  <a:lnTo>
                    <a:pt x="0" y="148771"/>
                  </a:lnTo>
                  <a:cubicBezTo>
                    <a:pt x="0" y="109314"/>
                    <a:pt x="15674" y="71474"/>
                    <a:pt x="43574" y="43574"/>
                  </a:cubicBezTo>
                  <a:cubicBezTo>
                    <a:pt x="71474" y="15674"/>
                    <a:pt x="109314" y="0"/>
                    <a:pt x="148771" y="0"/>
                  </a:cubicBezTo>
                  <a:close/>
                </a:path>
              </a:pathLst>
            </a:custGeom>
            <a:solidFill>
              <a:srgbClr val="FFFFFF">
                <a:alpha val="27843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34312" cy="335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313916" y="834403"/>
            <a:ext cx="388594" cy="388594"/>
          </a:xfrm>
          <a:custGeom>
            <a:avLst/>
            <a:gdLst/>
            <a:ahLst/>
            <a:cxnLst/>
            <a:rect l="l" t="t" r="r" b="b"/>
            <a:pathLst>
              <a:path w="388594" h="388594">
                <a:moveTo>
                  <a:pt x="0" y="0"/>
                </a:moveTo>
                <a:lnTo>
                  <a:pt x="388593" y="0"/>
                </a:lnTo>
                <a:lnTo>
                  <a:pt x="388593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7004730" y="719655"/>
            <a:ext cx="6171345" cy="5404878"/>
            <a:chOff x="0" y="0"/>
            <a:chExt cx="956103" cy="83735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56103" cy="837357"/>
            </a:xfrm>
            <a:custGeom>
              <a:avLst/>
              <a:gdLst/>
              <a:ahLst/>
              <a:cxnLst/>
              <a:rect l="l" t="t" r="r" b="b"/>
              <a:pathLst>
                <a:path w="956103" h="837357">
                  <a:moveTo>
                    <a:pt x="43907" y="0"/>
                  </a:moveTo>
                  <a:lnTo>
                    <a:pt x="912195" y="0"/>
                  </a:lnTo>
                  <a:cubicBezTo>
                    <a:pt x="923840" y="0"/>
                    <a:pt x="935008" y="4626"/>
                    <a:pt x="943243" y="12860"/>
                  </a:cubicBezTo>
                  <a:cubicBezTo>
                    <a:pt x="951477" y="21094"/>
                    <a:pt x="956103" y="32262"/>
                    <a:pt x="956103" y="43907"/>
                  </a:cubicBezTo>
                  <a:lnTo>
                    <a:pt x="956103" y="793450"/>
                  </a:lnTo>
                  <a:cubicBezTo>
                    <a:pt x="956103" y="817699"/>
                    <a:pt x="936445" y="837357"/>
                    <a:pt x="912195" y="837357"/>
                  </a:cubicBezTo>
                  <a:lnTo>
                    <a:pt x="43907" y="837357"/>
                  </a:lnTo>
                  <a:cubicBezTo>
                    <a:pt x="19658" y="837357"/>
                    <a:pt x="0" y="817699"/>
                    <a:pt x="0" y="793450"/>
                  </a:cubicBezTo>
                  <a:lnTo>
                    <a:pt x="0" y="43907"/>
                  </a:lnTo>
                  <a:cubicBezTo>
                    <a:pt x="0" y="19658"/>
                    <a:pt x="19658" y="0"/>
                    <a:pt x="43907" y="0"/>
                  </a:cubicBezTo>
                  <a:close/>
                </a:path>
              </a:pathLst>
            </a:custGeom>
            <a:blipFill>
              <a:blip r:embed="rId4"/>
              <a:stretch>
                <a:fillRect l="-405" r="-405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500780" y="6927086"/>
            <a:ext cx="3478253" cy="25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89"/>
              </a:lnSpc>
            </a:pPr>
            <a:r>
              <a:rPr lang="en-US" sz="1889" b="1" spc="-39">
                <a:solidFill>
                  <a:srgbClr val="15141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Food Safety &amp; Expiry Details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00780" y="7437477"/>
            <a:ext cx="3635179" cy="104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</a:pPr>
            <a:r>
              <a:rPr lang="en-US" sz="2098" spc="-44">
                <a:solidFill>
                  <a:srgbClr val="15141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Always include expiry dates, storage conditions, and allergen info so NGOs can safely distribute food to those in need.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59675" y="6927086"/>
            <a:ext cx="3478253" cy="25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89"/>
              </a:lnSpc>
            </a:pPr>
            <a:r>
              <a:rPr lang="en-US" sz="1889" b="1" spc="-39">
                <a:solidFill>
                  <a:srgbClr val="15141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Location-Based Pickup Windows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59675" y="7437477"/>
            <a:ext cx="3635179" cy="104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</a:pPr>
            <a:r>
              <a:rPr lang="en-US" sz="2098" spc="-44">
                <a:solidFill>
                  <a:srgbClr val="15141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Set your location and available pickup times so nearby NGOs can schedule collection quickly and reduce food waste.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18569" y="6927086"/>
            <a:ext cx="3478253" cy="25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89"/>
              </a:lnSpc>
            </a:pPr>
            <a:r>
              <a:rPr lang="en-US" sz="1889" b="1" spc="-39">
                <a:solidFill>
                  <a:srgbClr val="15141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Track Your Donation Impact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818569" y="7437477"/>
            <a:ext cx="3938959" cy="104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</a:pPr>
            <a:r>
              <a:rPr lang="en-US" sz="2098" spc="-44">
                <a:solidFill>
                  <a:srgbClr val="15141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Get real-time status updates as your donation moves from listing to pickup to delivery, and see the lives your food has touched.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9019" y="2375901"/>
            <a:ext cx="5348590" cy="2067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14"/>
              </a:lnSpc>
            </a:pPr>
            <a:r>
              <a:rPr lang="en-US" sz="7994" spc="-439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Tips for Donors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9019" y="4868808"/>
            <a:ext cx="5694263" cy="786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</a:pPr>
            <a:r>
              <a:rPr lang="en-US" sz="2098" spc="-4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Listing food for NGOs is simple—provide safety details, set a pickup window, and track your donation's impact in real time.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88351" y="855028"/>
            <a:ext cx="2440025" cy="340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9"/>
              </a:lnSpc>
            </a:pPr>
            <a:r>
              <a:rPr lang="en-US" sz="2519" spc="-5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See More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61131" y="263012"/>
            <a:ext cx="9134406" cy="9760977"/>
            <a:chOff x="0" y="0"/>
            <a:chExt cx="1415159" cy="15122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15159" cy="1512231"/>
            </a:xfrm>
            <a:custGeom>
              <a:avLst/>
              <a:gdLst/>
              <a:ahLst/>
              <a:cxnLst/>
              <a:rect l="l" t="t" r="r" b="b"/>
              <a:pathLst>
                <a:path w="1415159" h="1512231">
                  <a:moveTo>
                    <a:pt x="29664" y="0"/>
                  </a:moveTo>
                  <a:lnTo>
                    <a:pt x="1385494" y="0"/>
                  </a:lnTo>
                  <a:cubicBezTo>
                    <a:pt x="1401877" y="0"/>
                    <a:pt x="1415159" y="13281"/>
                    <a:pt x="1415159" y="29664"/>
                  </a:cubicBezTo>
                  <a:lnTo>
                    <a:pt x="1415159" y="1482566"/>
                  </a:lnTo>
                  <a:cubicBezTo>
                    <a:pt x="1415159" y="1498949"/>
                    <a:pt x="1401877" y="1512231"/>
                    <a:pt x="1385494" y="1512231"/>
                  </a:cubicBezTo>
                  <a:lnTo>
                    <a:pt x="29664" y="1512231"/>
                  </a:lnTo>
                  <a:cubicBezTo>
                    <a:pt x="13281" y="1512231"/>
                    <a:pt x="0" y="1498949"/>
                    <a:pt x="0" y="1482566"/>
                  </a:cubicBezTo>
                  <a:lnTo>
                    <a:pt x="0" y="29664"/>
                  </a:lnTo>
                  <a:cubicBezTo>
                    <a:pt x="0" y="13281"/>
                    <a:pt x="13281" y="0"/>
                    <a:pt x="29664" y="0"/>
                  </a:cubicBezTo>
                  <a:close/>
                </a:path>
              </a:pathLst>
            </a:custGeom>
            <a:blipFill>
              <a:blip r:embed="rId2"/>
              <a:stretch>
                <a:fillRect t="-584" b="-584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28700" y="3132201"/>
            <a:ext cx="7273995" cy="2067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14"/>
              </a:lnSpc>
            </a:pPr>
            <a:r>
              <a:rPr lang="en-US" sz="7994" spc="-439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Who Uses the Platform?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582815"/>
            <a:ext cx="3636998" cy="891770"/>
            <a:chOff x="0" y="0"/>
            <a:chExt cx="1213495" cy="2975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3495" cy="297542"/>
            </a:xfrm>
            <a:custGeom>
              <a:avLst/>
              <a:gdLst/>
              <a:ahLst/>
              <a:cxnLst/>
              <a:rect l="l" t="t" r="r" b="b"/>
              <a:pathLst>
                <a:path w="1213495" h="297542">
                  <a:moveTo>
                    <a:pt x="148771" y="0"/>
                  </a:moveTo>
                  <a:lnTo>
                    <a:pt x="1064725" y="0"/>
                  </a:lnTo>
                  <a:cubicBezTo>
                    <a:pt x="1104181" y="0"/>
                    <a:pt x="1142021" y="15674"/>
                    <a:pt x="1169921" y="43574"/>
                  </a:cubicBezTo>
                  <a:cubicBezTo>
                    <a:pt x="1197821" y="71474"/>
                    <a:pt x="1213495" y="109314"/>
                    <a:pt x="1213495" y="148771"/>
                  </a:cubicBezTo>
                  <a:lnTo>
                    <a:pt x="1213495" y="148771"/>
                  </a:lnTo>
                  <a:cubicBezTo>
                    <a:pt x="1213495" y="188227"/>
                    <a:pt x="1197821" y="226068"/>
                    <a:pt x="1169921" y="253968"/>
                  </a:cubicBezTo>
                  <a:cubicBezTo>
                    <a:pt x="1142021" y="281868"/>
                    <a:pt x="1104181" y="297542"/>
                    <a:pt x="1064725" y="297542"/>
                  </a:cubicBezTo>
                  <a:lnTo>
                    <a:pt x="148771" y="297542"/>
                  </a:lnTo>
                  <a:cubicBezTo>
                    <a:pt x="109314" y="297542"/>
                    <a:pt x="71474" y="281868"/>
                    <a:pt x="43574" y="253968"/>
                  </a:cubicBezTo>
                  <a:cubicBezTo>
                    <a:pt x="15674" y="226068"/>
                    <a:pt x="0" y="188227"/>
                    <a:pt x="0" y="148771"/>
                  </a:cubicBezTo>
                  <a:lnTo>
                    <a:pt x="0" y="148771"/>
                  </a:lnTo>
                  <a:cubicBezTo>
                    <a:pt x="0" y="109314"/>
                    <a:pt x="15674" y="71474"/>
                    <a:pt x="43574" y="43574"/>
                  </a:cubicBezTo>
                  <a:cubicBezTo>
                    <a:pt x="71474" y="15674"/>
                    <a:pt x="109314" y="0"/>
                    <a:pt x="148771" y="0"/>
                  </a:cubicBezTo>
                  <a:close/>
                </a:path>
              </a:pathLst>
            </a:custGeom>
            <a:solidFill>
              <a:srgbClr val="FFFFFF">
                <a:alpha val="27843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13495" cy="335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13916" y="834403"/>
            <a:ext cx="388594" cy="388594"/>
          </a:xfrm>
          <a:custGeom>
            <a:avLst/>
            <a:gdLst/>
            <a:ahLst/>
            <a:cxnLst/>
            <a:rect l="l" t="t" r="r" b="b"/>
            <a:pathLst>
              <a:path w="388594" h="388594">
                <a:moveTo>
                  <a:pt x="0" y="0"/>
                </a:moveTo>
                <a:lnTo>
                  <a:pt x="388593" y="0"/>
                </a:lnTo>
                <a:lnTo>
                  <a:pt x="388593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5904597" y="582815"/>
            <a:ext cx="7936706" cy="3175341"/>
            <a:chOff x="0" y="0"/>
            <a:chExt cx="2090326" cy="8363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90326" cy="836304"/>
            </a:xfrm>
            <a:custGeom>
              <a:avLst/>
              <a:gdLst/>
              <a:ahLst/>
              <a:cxnLst/>
              <a:rect l="l" t="t" r="r" b="b"/>
              <a:pathLst>
                <a:path w="2090326" h="836304">
                  <a:moveTo>
                    <a:pt x="27313" y="0"/>
                  </a:moveTo>
                  <a:lnTo>
                    <a:pt x="2063013" y="0"/>
                  </a:lnTo>
                  <a:cubicBezTo>
                    <a:pt x="2078097" y="0"/>
                    <a:pt x="2090326" y="12228"/>
                    <a:pt x="2090326" y="27313"/>
                  </a:cubicBezTo>
                  <a:lnTo>
                    <a:pt x="2090326" y="808991"/>
                  </a:lnTo>
                  <a:cubicBezTo>
                    <a:pt x="2090326" y="824075"/>
                    <a:pt x="2078097" y="836304"/>
                    <a:pt x="2063013" y="836304"/>
                  </a:cubicBezTo>
                  <a:lnTo>
                    <a:pt x="27313" y="836304"/>
                  </a:lnTo>
                  <a:cubicBezTo>
                    <a:pt x="12228" y="836304"/>
                    <a:pt x="0" y="824075"/>
                    <a:pt x="0" y="808991"/>
                  </a:cubicBezTo>
                  <a:lnTo>
                    <a:pt x="0" y="27313"/>
                  </a:lnTo>
                  <a:cubicBezTo>
                    <a:pt x="0" y="12228"/>
                    <a:pt x="12228" y="0"/>
                    <a:pt x="2731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090326" cy="8744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108084" y="778828"/>
            <a:ext cx="2397178" cy="2242267"/>
            <a:chOff x="0" y="0"/>
            <a:chExt cx="371386" cy="34738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71386" cy="347386"/>
            </a:xfrm>
            <a:custGeom>
              <a:avLst/>
              <a:gdLst/>
              <a:ahLst/>
              <a:cxnLst/>
              <a:rect l="l" t="t" r="r" b="b"/>
              <a:pathLst>
                <a:path w="371386" h="347386">
                  <a:moveTo>
                    <a:pt x="61362" y="0"/>
                  </a:moveTo>
                  <a:lnTo>
                    <a:pt x="310023" y="0"/>
                  </a:lnTo>
                  <a:cubicBezTo>
                    <a:pt x="343913" y="0"/>
                    <a:pt x="371386" y="27473"/>
                    <a:pt x="371386" y="61362"/>
                  </a:cubicBezTo>
                  <a:lnTo>
                    <a:pt x="371386" y="286024"/>
                  </a:lnTo>
                  <a:cubicBezTo>
                    <a:pt x="371386" y="319913"/>
                    <a:pt x="343913" y="347386"/>
                    <a:pt x="310023" y="347386"/>
                  </a:cubicBezTo>
                  <a:lnTo>
                    <a:pt x="61362" y="347386"/>
                  </a:lnTo>
                  <a:cubicBezTo>
                    <a:pt x="27473" y="347386"/>
                    <a:pt x="0" y="319913"/>
                    <a:pt x="0" y="286024"/>
                  </a:cubicBezTo>
                  <a:lnTo>
                    <a:pt x="0" y="61362"/>
                  </a:lnTo>
                  <a:cubicBezTo>
                    <a:pt x="0" y="27473"/>
                    <a:pt x="27473" y="0"/>
                    <a:pt x="61362" y="0"/>
                  </a:cubicBezTo>
                  <a:close/>
                </a:path>
              </a:pathLst>
            </a:custGeom>
            <a:blipFill>
              <a:blip r:embed="rId4"/>
              <a:stretch>
                <a:fillRect l="-560" r="-560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8648246" y="778828"/>
            <a:ext cx="2397178" cy="2242267"/>
            <a:chOff x="0" y="0"/>
            <a:chExt cx="371386" cy="34738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71386" cy="347386"/>
            </a:xfrm>
            <a:custGeom>
              <a:avLst/>
              <a:gdLst/>
              <a:ahLst/>
              <a:cxnLst/>
              <a:rect l="l" t="t" r="r" b="b"/>
              <a:pathLst>
                <a:path w="371386" h="347386">
                  <a:moveTo>
                    <a:pt x="61362" y="0"/>
                  </a:moveTo>
                  <a:lnTo>
                    <a:pt x="310023" y="0"/>
                  </a:lnTo>
                  <a:cubicBezTo>
                    <a:pt x="343913" y="0"/>
                    <a:pt x="371386" y="27473"/>
                    <a:pt x="371386" y="61362"/>
                  </a:cubicBezTo>
                  <a:lnTo>
                    <a:pt x="371386" y="286024"/>
                  </a:lnTo>
                  <a:cubicBezTo>
                    <a:pt x="371386" y="319913"/>
                    <a:pt x="343913" y="347386"/>
                    <a:pt x="310023" y="347386"/>
                  </a:cubicBezTo>
                  <a:lnTo>
                    <a:pt x="61362" y="347386"/>
                  </a:lnTo>
                  <a:cubicBezTo>
                    <a:pt x="27473" y="347386"/>
                    <a:pt x="0" y="319913"/>
                    <a:pt x="0" y="286024"/>
                  </a:cubicBezTo>
                  <a:lnTo>
                    <a:pt x="0" y="61362"/>
                  </a:lnTo>
                  <a:cubicBezTo>
                    <a:pt x="0" y="27473"/>
                    <a:pt x="27473" y="0"/>
                    <a:pt x="61362" y="0"/>
                  </a:cubicBezTo>
                  <a:close/>
                </a:path>
              </a:pathLst>
            </a:custGeom>
            <a:blipFill>
              <a:blip r:embed="rId5"/>
              <a:stretch>
                <a:fillRect l="-560" r="-560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1188408" y="778828"/>
            <a:ext cx="2397178" cy="2242267"/>
            <a:chOff x="0" y="0"/>
            <a:chExt cx="371386" cy="34738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71386" cy="347386"/>
            </a:xfrm>
            <a:custGeom>
              <a:avLst/>
              <a:gdLst/>
              <a:ahLst/>
              <a:cxnLst/>
              <a:rect l="l" t="t" r="r" b="b"/>
              <a:pathLst>
                <a:path w="371386" h="347386">
                  <a:moveTo>
                    <a:pt x="61362" y="0"/>
                  </a:moveTo>
                  <a:lnTo>
                    <a:pt x="310023" y="0"/>
                  </a:lnTo>
                  <a:cubicBezTo>
                    <a:pt x="343913" y="0"/>
                    <a:pt x="371386" y="27473"/>
                    <a:pt x="371386" y="61362"/>
                  </a:cubicBezTo>
                  <a:lnTo>
                    <a:pt x="371386" y="286024"/>
                  </a:lnTo>
                  <a:cubicBezTo>
                    <a:pt x="371386" y="319913"/>
                    <a:pt x="343913" y="347386"/>
                    <a:pt x="310023" y="347386"/>
                  </a:cubicBezTo>
                  <a:lnTo>
                    <a:pt x="61362" y="347386"/>
                  </a:lnTo>
                  <a:cubicBezTo>
                    <a:pt x="27473" y="347386"/>
                    <a:pt x="0" y="319913"/>
                    <a:pt x="0" y="286024"/>
                  </a:cubicBezTo>
                  <a:lnTo>
                    <a:pt x="0" y="61362"/>
                  </a:lnTo>
                  <a:cubicBezTo>
                    <a:pt x="0" y="27473"/>
                    <a:pt x="27473" y="0"/>
                    <a:pt x="61362" y="0"/>
                  </a:cubicBezTo>
                  <a:close/>
                </a:path>
              </a:pathLst>
            </a:custGeom>
            <a:blipFill>
              <a:blip r:embed="rId6"/>
              <a:stretch>
                <a:fillRect l="-560" r="-560"/>
              </a:stretch>
            </a:blipFill>
          </p:spPr>
        </p:sp>
      </p:grpSp>
      <p:sp>
        <p:nvSpPr>
          <p:cNvPr id="18" name="AutoShape 18"/>
          <p:cNvSpPr/>
          <p:nvPr/>
        </p:nvSpPr>
        <p:spPr>
          <a:xfrm flipV="1">
            <a:off x="2370949" y="6985762"/>
            <a:ext cx="487589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2370949" y="7767017"/>
            <a:ext cx="487589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flipV="1">
            <a:off x="2370949" y="8548273"/>
            <a:ext cx="487589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flipV="1">
            <a:off x="2370949" y="9329528"/>
            <a:ext cx="4875897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 rot="5400000">
            <a:off x="232126" y="7641185"/>
            <a:ext cx="2484917" cy="891770"/>
            <a:chOff x="0" y="0"/>
            <a:chExt cx="829100" cy="2975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29100" cy="297542"/>
            </a:xfrm>
            <a:custGeom>
              <a:avLst/>
              <a:gdLst/>
              <a:ahLst/>
              <a:cxnLst/>
              <a:rect l="l" t="t" r="r" b="b"/>
              <a:pathLst>
                <a:path w="829100" h="297542">
                  <a:moveTo>
                    <a:pt x="148771" y="0"/>
                  </a:moveTo>
                  <a:lnTo>
                    <a:pt x="680329" y="0"/>
                  </a:lnTo>
                  <a:cubicBezTo>
                    <a:pt x="762493" y="0"/>
                    <a:pt x="829100" y="66607"/>
                    <a:pt x="829100" y="148771"/>
                  </a:cubicBezTo>
                  <a:lnTo>
                    <a:pt x="829100" y="148771"/>
                  </a:lnTo>
                  <a:cubicBezTo>
                    <a:pt x="829100" y="188227"/>
                    <a:pt x="813426" y="226068"/>
                    <a:pt x="785526" y="253968"/>
                  </a:cubicBezTo>
                  <a:cubicBezTo>
                    <a:pt x="757626" y="281868"/>
                    <a:pt x="719786" y="297542"/>
                    <a:pt x="680329" y="297542"/>
                  </a:cubicBezTo>
                  <a:lnTo>
                    <a:pt x="148771" y="297542"/>
                  </a:lnTo>
                  <a:cubicBezTo>
                    <a:pt x="109314" y="297542"/>
                    <a:pt x="71474" y="281868"/>
                    <a:pt x="43574" y="253968"/>
                  </a:cubicBezTo>
                  <a:cubicBezTo>
                    <a:pt x="15674" y="226068"/>
                    <a:pt x="0" y="188227"/>
                    <a:pt x="0" y="148771"/>
                  </a:cubicBezTo>
                  <a:lnTo>
                    <a:pt x="0" y="148771"/>
                  </a:lnTo>
                  <a:cubicBezTo>
                    <a:pt x="0" y="109314"/>
                    <a:pt x="15674" y="71474"/>
                    <a:pt x="43574" y="43574"/>
                  </a:cubicBezTo>
                  <a:cubicBezTo>
                    <a:pt x="71474" y="15674"/>
                    <a:pt x="109314" y="0"/>
                    <a:pt x="148771" y="0"/>
                  </a:cubicBezTo>
                  <a:close/>
                </a:path>
              </a:pathLst>
            </a:custGeom>
            <a:solidFill>
              <a:srgbClr val="FFFFFF">
                <a:alpha val="27843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829100" cy="335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298305" y="7892773"/>
            <a:ext cx="352560" cy="388594"/>
          </a:xfrm>
          <a:custGeom>
            <a:avLst/>
            <a:gdLst/>
            <a:ahLst/>
            <a:cxnLst/>
            <a:rect l="l" t="t" r="r" b="b"/>
            <a:pathLst>
              <a:path w="352560" h="388594">
                <a:moveTo>
                  <a:pt x="0" y="0"/>
                </a:moveTo>
                <a:lnTo>
                  <a:pt x="352560" y="0"/>
                </a:lnTo>
                <a:lnTo>
                  <a:pt x="352560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265867" y="7199379"/>
            <a:ext cx="417435" cy="388594"/>
          </a:xfrm>
          <a:custGeom>
            <a:avLst/>
            <a:gdLst/>
            <a:ahLst/>
            <a:cxnLst/>
            <a:rect l="l" t="t" r="r" b="b"/>
            <a:pathLst>
              <a:path w="417435" h="388594">
                <a:moveTo>
                  <a:pt x="0" y="0"/>
                </a:moveTo>
                <a:lnTo>
                  <a:pt x="417435" y="0"/>
                </a:lnTo>
                <a:lnTo>
                  <a:pt x="417435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318087" y="8681556"/>
            <a:ext cx="312995" cy="388594"/>
          </a:xfrm>
          <a:custGeom>
            <a:avLst/>
            <a:gdLst/>
            <a:ahLst/>
            <a:cxnLst/>
            <a:rect l="l" t="t" r="r" b="b"/>
            <a:pathLst>
              <a:path w="312995" h="388594">
                <a:moveTo>
                  <a:pt x="0" y="0"/>
                </a:moveTo>
                <a:lnTo>
                  <a:pt x="312995" y="0"/>
                </a:lnTo>
                <a:lnTo>
                  <a:pt x="312995" y="388593"/>
                </a:lnTo>
                <a:lnTo>
                  <a:pt x="0" y="3885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028700" y="5379641"/>
            <a:ext cx="7273995" cy="474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23"/>
              </a:lnSpc>
            </a:pPr>
            <a:r>
              <a:rPr lang="en-US" sz="1823" spc="-3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MERN food donation marketplace connects multiple participants — each playing a vital role in reducing food waste and feeding communities in need.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88351" y="845503"/>
            <a:ext cx="2440025" cy="315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4"/>
              </a:lnSpc>
            </a:pPr>
            <a:r>
              <a:rPr lang="en-US" sz="2314" spc="-4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Learn More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561449" y="6461681"/>
            <a:ext cx="4328500" cy="234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5"/>
              </a:lnSpc>
            </a:pPr>
            <a:r>
              <a:rPr lang="en-US" sz="1735" b="1" spc="-3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Donors: Restaurants, Retailers &amp; Households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561449" y="7242937"/>
            <a:ext cx="4328500" cy="234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5"/>
              </a:lnSpc>
            </a:pPr>
            <a:r>
              <a:rPr lang="en-US" sz="1735" b="1" spc="-3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Recipients: NGOs &amp; Community Kitchens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61449" y="8024192"/>
            <a:ext cx="4328500" cy="234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5"/>
              </a:lnSpc>
            </a:pPr>
            <a:r>
              <a:rPr lang="en-US" sz="1735" b="1" spc="-3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Volunteers &amp; Pickup Partners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561449" y="8805448"/>
            <a:ext cx="4328500" cy="234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35"/>
              </a:lnSpc>
            </a:pPr>
            <a:r>
              <a:rPr lang="en-US" sz="1735" b="1" spc="-3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Platform Administrators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33040" y="1493194"/>
            <a:ext cx="5381156" cy="7300612"/>
            <a:chOff x="0" y="0"/>
            <a:chExt cx="1031173" cy="13989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173" cy="1398991"/>
            </a:xfrm>
            <a:custGeom>
              <a:avLst/>
              <a:gdLst/>
              <a:ahLst/>
              <a:cxnLst/>
              <a:rect l="l" t="t" r="r" b="b"/>
              <a:pathLst>
                <a:path w="1031173" h="1398991">
                  <a:moveTo>
                    <a:pt x="50355" y="0"/>
                  </a:moveTo>
                  <a:lnTo>
                    <a:pt x="980818" y="0"/>
                  </a:lnTo>
                  <a:cubicBezTo>
                    <a:pt x="1008628" y="0"/>
                    <a:pt x="1031173" y="22545"/>
                    <a:pt x="1031173" y="50355"/>
                  </a:cubicBezTo>
                  <a:lnTo>
                    <a:pt x="1031173" y="1348636"/>
                  </a:lnTo>
                  <a:cubicBezTo>
                    <a:pt x="1031173" y="1376447"/>
                    <a:pt x="1008628" y="1398991"/>
                    <a:pt x="980818" y="1398991"/>
                  </a:cubicBezTo>
                  <a:lnTo>
                    <a:pt x="50355" y="1398991"/>
                  </a:lnTo>
                  <a:cubicBezTo>
                    <a:pt x="22545" y="1398991"/>
                    <a:pt x="0" y="1376447"/>
                    <a:pt x="0" y="1348636"/>
                  </a:cubicBezTo>
                  <a:lnTo>
                    <a:pt x="0" y="50355"/>
                  </a:lnTo>
                  <a:cubicBezTo>
                    <a:pt x="0" y="22545"/>
                    <a:pt x="22545" y="0"/>
                    <a:pt x="50355" y="0"/>
                  </a:cubicBezTo>
                  <a:close/>
                </a:path>
              </a:pathLst>
            </a:custGeom>
            <a:blipFill>
              <a:blip r:embed="rId2"/>
              <a:stretch>
                <a:fillRect t="-312" b="-31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17407" y="1493194"/>
            <a:ext cx="5381156" cy="7300612"/>
            <a:chOff x="0" y="0"/>
            <a:chExt cx="1031173" cy="13989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31173" cy="1398991"/>
            </a:xfrm>
            <a:custGeom>
              <a:avLst/>
              <a:gdLst/>
              <a:ahLst/>
              <a:cxnLst/>
              <a:rect l="l" t="t" r="r" b="b"/>
              <a:pathLst>
                <a:path w="1031173" h="1398991">
                  <a:moveTo>
                    <a:pt x="50355" y="0"/>
                  </a:moveTo>
                  <a:lnTo>
                    <a:pt x="980818" y="0"/>
                  </a:lnTo>
                  <a:cubicBezTo>
                    <a:pt x="1008628" y="0"/>
                    <a:pt x="1031173" y="22545"/>
                    <a:pt x="1031173" y="50355"/>
                  </a:cubicBezTo>
                  <a:lnTo>
                    <a:pt x="1031173" y="1348636"/>
                  </a:lnTo>
                  <a:cubicBezTo>
                    <a:pt x="1031173" y="1376447"/>
                    <a:pt x="1008628" y="1398991"/>
                    <a:pt x="980818" y="1398991"/>
                  </a:cubicBezTo>
                  <a:lnTo>
                    <a:pt x="50355" y="1398991"/>
                  </a:lnTo>
                  <a:cubicBezTo>
                    <a:pt x="22545" y="1398991"/>
                    <a:pt x="0" y="1376447"/>
                    <a:pt x="0" y="1348636"/>
                  </a:cubicBezTo>
                  <a:lnTo>
                    <a:pt x="0" y="50355"/>
                  </a:lnTo>
                  <a:cubicBezTo>
                    <a:pt x="0" y="22545"/>
                    <a:pt x="22545" y="0"/>
                    <a:pt x="50355" y="0"/>
                  </a:cubicBezTo>
                  <a:close/>
                </a:path>
              </a:pathLst>
            </a:custGeom>
            <a:blipFill>
              <a:blip r:embed="rId3"/>
              <a:stretch>
                <a:fillRect t="-312" b="-31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968882" y="1028700"/>
            <a:ext cx="6549416" cy="8275750"/>
            <a:chOff x="0" y="0"/>
            <a:chExt cx="1107160" cy="139899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07160" cy="1398991"/>
            </a:xfrm>
            <a:custGeom>
              <a:avLst/>
              <a:gdLst/>
              <a:ahLst/>
              <a:cxnLst/>
              <a:rect l="l" t="t" r="r" b="b"/>
              <a:pathLst>
                <a:path w="1107160" h="1398991">
                  <a:moveTo>
                    <a:pt x="41373" y="0"/>
                  </a:moveTo>
                  <a:lnTo>
                    <a:pt x="1065787" y="0"/>
                  </a:lnTo>
                  <a:cubicBezTo>
                    <a:pt x="1088636" y="0"/>
                    <a:pt x="1107160" y="18523"/>
                    <a:pt x="1107160" y="41373"/>
                  </a:cubicBezTo>
                  <a:lnTo>
                    <a:pt x="1107160" y="1357618"/>
                  </a:lnTo>
                  <a:cubicBezTo>
                    <a:pt x="1107160" y="1368591"/>
                    <a:pt x="1102801" y="1379115"/>
                    <a:pt x="1095042" y="1386873"/>
                  </a:cubicBezTo>
                  <a:cubicBezTo>
                    <a:pt x="1087283" y="1394632"/>
                    <a:pt x="1076760" y="1398991"/>
                    <a:pt x="1065787" y="1398991"/>
                  </a:cubicBezTo>
                  <a:lnTo>
                    <a:pt x="41373" y="1398991"/>
                  </a:lnTo>
                  <a:cubicBezTo>
                    <a:pt x="18523" y="1398991"/>
                    <a:pt x="0" y="1380468"/>
                    <a:pt x="0" y="1357618"/>
                  </a:cubicBezTo>
                  <a:lnTo>
                    <a:pt x="0" y="41373"/>
                  </a:lnTo>
                  <a:cubicBezTo>
                    <a:pt x="0" y="18523"/>
                    <a:pt x="18523" y="0"/>
                    <a:pt x="41373" y="0"/>
                  </a:cubicBezTo>
                  <a:close/>
                </a:path>
              </a:pathLst>
            </a:custGeom>
            <a:blipFill>
              <a:blip r:embed="rId4"/>
              <a:stretch>
                <a:fillRect t="-9" b="-9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521705" y="601425"/>
            <a:ext cx="3399676" cy="891770"/>
            <a:chOff x="0" y="0"/>
            <a:chExt cx="1134312" cy="2975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34312" cy="297542"/>
            </a:xfrm>
            <a:custGeom>
              <a:avLst/>
              <a:gdLst/>
              <a:ahLst/>
              <a:cxnLst/>
              <a:rect l="l" t="t" r="r" b="b"/>
              <a:pathLst>
                <a:path w="1134312" h="297542">
                  <a:moveTo>
                    <a:pt x="148771" y="0"/>
                  </a:moveTo>
                  <a:lnTo>
                    <a:pt x="985541" y="0"/>
                  </a:lnTo>
                  <a:cubicBezTo>
                    <a:pt x="1024998" y="0"/>
                    <a:pt x="1062838" y="15674"/>
                    <a:pt x="1090738" y="43574"/>
                  </a:cubicBezTo>
                  <a:cubicBezTo>
                    <a:pt x="1118638" y="71474"/>
                    <a:pt x="1134312" y="109314"/>
                    <a:pt x="1134312" y="148771"/>
                  </a:cubicBezTo>
                  <a:lnTo>
                    <a:pt x="1134312" y="148771"/>
                  </a:lnTo>
                  <a:cubicBezTo>
                    <a:pt x="1134312" y="188227"/>
                    <a:pt x="1118638" y="226068"/>
                    <a:pt x="1090738" y="253968"/>
                  </a:cubicBezTo>
                  <a:cubicBezTo>
                    <a:pt x="1062838" y="281868"/>
                    <a:pt x="1024998" y="297542"/>
                    <a:pt x="985541" y="297542"/>
                  </a:cubicBezTo>
                  <a:lnTo>
                    <a:pt x="148771" y="297542"/>
                  </a:lnTo>
                  <a:cubicBezTo>
                    <a:pt x="109314" y="297542"/>
                    <a:pt x="71474" y="281868"/>
                    <a:pt x="43574" y="253968"/>
                  </a:cubicBezTo>
                  <a:cubicBezTo>
                    <a:pt x="15674" y="226068"/>
                    <a:pt x="0" y="188227"/>
                    <a:pt x="0" y="148771"/>
                  </a:cubicBezTo>
                  <a:lnTo>
                    <a:pt x="0" y="148771"/>
                  </a:lnTo>
                  <a:cubicBezTo>
                    <a:pt x="0" y="109314"/>
                    <a:pt x="15674" y="71474"/>
                    <a:pt x="43574" y="43574"/>
                  </a:cubicBezTo>
                  <a:cubicBezTo>
                    <a:pt x="71474" y="15674"/>
                    <a:pt x="109314" y="0"/>
                    <a:pt x="148771" y="0"/>
                  </a:cubicBezTo>
                  <a:close/>
                </a:path>
              </a:pathLst>
            </a:custGeom>
            <a:solidFill>
              <a:srgbClr val="FFFFFF">
                <a:alpha val="27843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34312" cy="335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806921" y="853012"/>
            <a:ext cx="388594" cy="388594"/>
          </a:xfrm>
          <a:custGeom>
            <a:avLst/>
            <a:gdLst/>
            <a:ahLst/>
            <a:cxnLst/>
            <a:rect l="l" t="t" r="r" b="b"/>
            <a:pathLst>
              <a:path w="388594" h="388594">
                <a:moveTo>
                  <a:pt x="0" y="0"/>
                </a:moveTo>
                <a:lnTo>
                  <a:pt x="388594" y="0"/>
                </a:lnTo>
                <a:lnTo>
                  <a:pt x="388594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310772" y="4740076"/>
            <a:ext cx="806848" cy="806848"/>
          </a:xfrm>
          <a:custGeom>
            <a:avLst/>
            <a:gdLst/>
            <a:ahLst/>
            <a:cxnLst/>
            <a:rect l="l" t="t" r="r" b="b"/>
            <a:pathLst>
              <a:path w="806848" h="806848">
                <a:moveTo>
                  <a:pt x="0" y="0"/>
                </a:moveTo>
                <a:lnTo>
                  <a:pt x="806849" y="0"/>
                </a:lnTo>
                <a:lnTo>
                  <a:pt x="806849" y="806848"/>
                </a:lnTo>
                <a:lnTo>
                  <a:pt x="0" y="8068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7929" y="4754021"/>
            <a:ext cx="778957" cy="778957"/>
          </a:xfrm>
          <a:custGeom>
            <a:avLst/>
            <a:gdLst/>
            <a:ahLst/>
            <a:cxnLst/>
            <a:rect l="l" t="t" r="r" b="b"/>
            <a:pathLst>
              <a:path w="778957" h="778957">
                <a:moveTo>
                  <a:pt x="0" y="0"/>
                </a:moveTo>
                <a:lnTo>
                  <a:pt x="778957" y="0"/>
                </a:lnTo>
                <a:lnTo>
                  <a:pt x="778957" y="778958"/>
                </a:lnTo>
                <a:lnTo>
                  <a:pt x="0" y="7789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521705" y="8604407"/>
            <a:ext cx="2587347" cy="653893"/>
          </a:xfrm>
          <a:custGeom>
            <a:avLst/>
            <a:gdLst/>
            <a:ahLst/>
            <a:cxnLst/>
            <a:rect l="l" t="t" r="r" b="b"/>
            <a:pathLst>
              <a:path w="2587347" h="653893">
                <a:moveTo>
                  <a:pt x="0" y="0"/>
                </a:moveTo>
                <a:lnTo>
                  <a:pt x="2587347" y="0"/>
                </a:lnTo>
                <a:lnTo>
                  <a:pt x="2587347" y="653893"/>
                </a:lnTo>
                <a:lnTo>
                  <a:pt x="0" y="653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521705" y="2920577"/>
            <a:ext cx="7273995" cy="207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90"/>
              </a:lnSpc>
            </a:pPr>
            <a:r>
              <a:rPr lang="en-US" sz="5607" spc="-308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Food Donation Marketplace in Action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521705" y="5377567"/>
            <a:ext cx="6833250" cy="786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</a:pPr>
            <a:r>
              <a:rPr lang="en-US" sz="2098" spc="-4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Donors list surplus food in seconds — NGOs browse live inventory, claim donations, and coordinate pickups all within one seamless MERN-powered platform.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81357" y="883162"/>
            <a:ext cx="2440025" cy="375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</a:pPr>
            <a:r>
              <a:rPr lang="en-US" sz="2798" spc="-58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See More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21705" y="6573907"/>
            <a:ext cx="5649893" cy="786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</a:pPr>
            <a:r>
              <a:rPr lang="en-US" sz="2098" spc="-4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From donor listings and NGO discovery to pickup scheduling and delivery confirmation — every step is tracked in real time on a single shared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8374" y="1028700"/>
            <a:ext cx="16631253" cy="10299863"/>
            <a:chOff x="0" y="0"/>
            <a:chExt cx="4380248" cy="27127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80248" cy="2712721"/>
            </a:xfrm>
            <a:custGeom>
              <a:avLst/>
              <a:gdLst/>
              <a:ahLst/>
              <a:cxnLst/>
              <a:rect l="l" t="t" r="r" b="b"/>
              <a:pathLst>
                <a:path w="4380248" h="2712721">
                  <a:moveTo>
                    <a:pt x="23741" y="0"/>
                  </a:moveTo>
                  <a:lnTo>
                    <a:pt x="4356507" y="0"/>
                  </a:lnTo>
                  <a:cubicBezTo>
                    <a:pt x="4362803" y="0"/>
                    <a:pt x="4368842" y="2501"/>
                    <a:pt x="4373294" y="6953"/>
                  </a:cubicBezTo>
                  <a:cubicBezTo>
                    <a:pt x="4377746" y="11406"/>
                    <a:pt x="4380248" y="17444"/>
                    <a:pt x="4380248" y="23741"/>
                  </a:cubicBezTo>
                  <a:lnTo>
                    <a:pt x="4380248" y="2688980"/>
                  </a:lnTo>
                  <a:cubicBezTo>
                    <a:pt x="4380248" y="2695277"/>
                    <a:pt x="4377746" y="2701315"/>
                    <a:pt x="4373294" y="2705768"/>
                  </a:cubicBezTo>
                  <a:cubicBezTo>
                    <a:pt x="4368842" y="2710220"/>
                    <a:pt x="4362803" y="2712721"/>
                    <a:pt x="4356507" y="2712721"/>
                  </a:cubicBezTo>
                  <a:lnTo>
                    <a:pt x="23741" y="2712721"/>
                  </a:lnTo>
                  <a:cubicBezTo>
                    <a:pt x="17444" y="2712721"/>
                    <a:pt x="11406" y="2710220"/>
                    <a:pt x="6953" y="2705768"/>
                  </a:cubicBezTo>
                  <a:cubicBezTo>
                    <a:pt x="2501" y="2701315"/>
                    <a:pt x="0" y="2695277"/>
                    <a:pt x="0" y="2688980"/>
                  </a:cubicBezTo>
                  <a:lnTo>
                    <a:pt x="0" y="23741"/>
                  </a:lnTo>
                  <a:cubicBezTo>
                    <a:pt x="0" y="17444"/>
                    <a:pt x="2501" y="11406"/>
                    <a:pt x="6953" y="6953"/>
                  </a:cubicBezTo>
                  <a:cubicBezTo>
                    <a:pt x="11406" y="2501"/>
                    <a:pt x="17444" y="0"/>
                    <a:pt x="237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80248" cy="2750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930858" y="1415992"/>
            <a:ext cx="7146369" cy="8444036"/>
            <a:chOff x="0" y="0"/>
            <a:chExt cx="1107160" cy="13082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07160" cy="1308202"/>
            </a:xfrm>
            <a:custGeom>
              <a:avLst/>
              <a:gdLst/>
              <a:ahLst/>
              <a:cxnLst/>
              <a:rect l="l" t="t" r="r" b="b"/>
              <a:pathLst>
                <a:path w="1107160" h="1308202">
                  <a:moveTo>
                    <a:pt x="37917" y="0"/>
                  </a:moveTo>
                  <a:lnTo>
                    <a:pt x="1069243" y="0"/>
                  </a:lnTo>
                  <a:cubicBezTo>
                    <a:pt x="1079299" y="0"/>
                    <a:pt x="1088943" y="3995"/>
                    <a:pt x="1096054" y="11106"/>
                  </a:cubicBezTo>
                  <a:cubicBezTo>
                    <a:pt x="1103165" y="18216"/>
                    <a:pt x="1107160" y="27861"/>
                    <a:pt x="1107160" y="37917"/>
                  </a:cubicBezTo>
                  <a:lnTo>
                    <a:pt x="1107160" y="1270285"/>
                  </a:lnTo>
                  <a:cubicBezTo>
                    <a:pt x="1107160" y="1280342"/>
                    <a:pt x="1103165" y="1289986"/>
                    <a:pt x="1096054" y="1297097"/>
                  </a:cubicBezTo>
                  <a:cubicBezTo>
                    <a:pt x="1088943" y="1304207"/>
                    <a:pt x="1079299" y="1308202"/>
                    <a:pt x="1069243" y="1308202"/>
                  </a:cubicBezTo>
                  <a:lnTo>
                    <a:pt x="37917" y="1308202"/>
                  </a:lnTo>
                  <a:cubicBezTo>
                    <a:pt x="27861" y="1308202"/>
                    <a:pt x="18216" y="1304207"/>
                    <a:pt x="11106" y="1297097"/>
                  </a:cubicBezTo>
                  <a:cubicBezTo>
                    <a:pt x="3995" y="1289986"/>
                    <a:pt x="0" y="1280342"/>
                    <a:pt x="0" y="1270285"/>
                  </a:cubicBezTo>
                  <a:lnTo>
                    <a:pt x="0" y="37917"/>
                  </a:lnTo>
                  <a:cubicBezTo>
                    <a:pt x="0" y="27861"/>
                    <a:pt x="3995" y="18216"/>
                    <a:pt x="11106" y="11106"/>
                  </a:cubicBezTo>
                  <a:cubicBezTo>
                    <a:pt x="18216" y="3995"/>
                    <a:pt x="27861" y="0"/>
                    <a:pt x="37917" y="0"/>
                  </a:cubicBezTo>
                  <a:close/>
                </a:path>
              </a:pathLst>
            </a:custGeom>
            <a:blipFill>
              <a:blip r:embed="rId2"/>
              <a:stretch>
                <a:fillRect t="-226" b="-22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967714" y="5991393"/>
            <a:ext cx="6786294" cy="891770"/>
            <a:chOff x="0" y="0"/>
            <a:chExt cx="2264267" cy="2975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64267" cy="297542"/>
            </a:xfrm>
            <a:custGeom>
              <a:avLst/>
              <a:gdLst/>
              <a:ahLst/>
              <a:cxnLst/>
              <a:rect l="l" t="t" r="r" b="b"/>
              <a:pathLst>
                <a:path w="2264267" h="297542">
                  <a:moveTo>
                    <a:pt x="114082" y="0"/>
                  </a:moveTo>
                  <a:lnTo>
                    <a:pt x="2150186" y="0"/>
                  </a:lnTo>
                  <a:cubicBezTo>
                    <a:pt x="2213191" y="0"/>
                    <a:pt x="2264267" y="51076"/>
                    <a:pt x="2264267" y="114082"/>
                  </a:cubicBezTo>
                  <a:lnTo>
                    <a:pt x="2264267" y="183460"/>
                  </a:lnTo>
                  <a:cubicBezTo>
                    <a:pt x="2264267" y="213716"/>
                    <a:pt x="2252248" y="242733"/>
                    <a:pt x="2230854" y="264128"/>
                  </a:cubicBezTo>
                  <a:cubicBezTo>
                    <a:pt x="2209459" y="285522"/>
                    <a:pt x="2180442" y="297542"/>
                    <a:pt x="2150186" y="297542"/>
                  </a:cubicBezTo>
                  <a:lnTo>
                    <a:pt x="114082" y="297542"/>
                  </a:lnTo>
                  <a:cubicBezTo>
                    <a:pt x="51076" y="297542"/>
                    <a:pt x="0" y="246466"/>
                    <a:pt x="0" y="183460"/>
                  </a:cubicBezTo>
                  <a:lnTo>
                    <a:pt x="0" y="114082"/>
                  </a:lnTo>
                  <a:cubicBezTo>
                    <a:pt x="0" y="83825"/>
                    <a:pt x="12019" y="54808"/>
                    <a:pt x="33414" y="33414"/>
                  </a:cubicBezTo>
                  <a:cubicBezTo>
                    <a:pt x="54808" y="12019"/>
                    <a:pt x="83825" y="0"/>
                    <a:pt x="114082" y="0"/>
                  </a:cubicBezTo>
                  <a:close/>
                </a:path>
              </a:pathLst>
            </a:custGeom>
            <a:solidFill>
              <a:srgbClr val="15141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264267" cy="335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37157">
            <a:off x="345257" y="6249526"/>
            <a:ext cx="2140123" cy="2649163"/>
            <a:chOff x="0" y="0"/>
            <a:chExt cx="1107160" cy="13705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07160" cy="1370504"/>
            </a:xfrm>
            <a:custGeom>
              <a:avLst/>
              <a:gdLst/>
              <a:ahLst/>
              <a:cxnLst/>
              <a:rect l="l" t="t" r="r" b="b"/>
              <a:pathLst>
                <a:path w="1107160" h="1370504">
                  <a:moveTo>
                    <a:pt x="126613" y="0"/>
                  </a:moveTo>
                  <a:lnTo>
                    <a:pt x="980547" y="0"/>
                  </a:lnTo>
                  <a:cubicBezTo>
                    <a:pt x="1050473" y="0"/>
                    <a:pt x="1107160" y="56687"/>
                    <a:pt x="1107160" y="126613"/>
                  </a:cubicBezTo>
                  <a:lnTo>
                    <a:pt x="1107160" y="1243891"/>
                  </a:lnTo>
                  <a:cubicBezTo>
                    <a:pt x="1107160" y="1313817"/>
                    <a:pt x="1050473" y="1370504"/>
                    <a:pt x="980547" y="1370504"/>
                  </a:cubicBezTo>
                  <a:lnTo>
                    <a:pt x="126613" y="1370504"/>
                  </a:lnTo>
                  <a:cubicBezTo>
                    <a:pt x="93033" y="1370504"/>
                    <a:pt x="60829" y="1357164"/>
                    <a:pt x="37084" y="1333419"/>
                  </a:cubicBezTo>
                  <a:cubicBezTo>
                    <a:pt x="13340" y="1309675"/>
                    <a:pt x="0" y="1277470"/>
                    <a:pt x="0" y="1243891"/>
                  </a:cubicBezTo>
                  <a:lnTo>
                    <a:pt x="0" y="126613"/>
                  </a:lnTo>
                  <a:cubicBezTo>
                    <a:pt x="0" y="93033"/>
                    <a:pt x="13340" y="60829"/>
                    <a:pt x="37084" y="37084"/>
                  </a:cubicBezTo>
                  <a:cubicBezTo>
                    <a:pt x="60829" y="13340"/>
                    <a:pt x="93033" y="0"/>
                    <a:pt x="126613" y="0"/>
                  </a:cubicBezTo>
                  <a:close/>
                </a:path>
              </a:pathLst>
            </a:custGeom>
            <a:blipFill>
              <a:blip r:embed="rId3"/>
              <a:stretch>
                <a:fillRect t="-176" b="-17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925886" y="7261642"/>
            <a:ext cx="6396301" cy="891770"/>
            <a:chOff x="0" y="0"/>
            <a:chExt cx="2134145" cy="2975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34145" cy="297542"/>
            </a:xfrm>
            <a:custGeom>
              <a:avLst/>
              <a:gdLst/>
              <a:ahLst/>
              <a:cxnLst/>
              <a:rect l="l" t="t" r="r" b="b"/>
              <a:pathLst>
                <a:path w="2134145" h="297542">
                  <a:moveTo>
                    <a:pt x="121037" y="0"/>
                  </a:moveTo>
                  <a:lnTo>
                    <a:pt x="2013108" y="0"/>
                  </a:lnTo>
                  <a:cubicBezTo>
                    <a:pt x="2079955" y="0"/>
                    <a:pt x="2134145" y="54190"/>
                    <a:pt x="2134145" y="121037"/>
                  </a:cubicBezTo>
                  <a:lnTo>
                    <a:pt x="2134145" y="176504"/>
                  </a:lnTo>
                  <a:cubicBezTo>
                    <a:pt x="2134145" y="243351"/>
                    <a:pt x="2079955" y="297542"/>
                    <a:pt x="2013108" y="297542"/>
                  </a:cubicBezTo>
                  <a:lnTo>
                    <a:pt x="121037" y="297542"/>
                  </a:lnTo>
                  <a:cubicBezTo>
                    <a:pt x="54190" y="297542"/>
                    <a:pt x="0" y="243351"/>
                    <a:pt x="0" y="176504"/>
                  </a:cubicBezTo>
                  <a:lnTo>
                    <a:pt x="0" y="121037"/>
                  </a:lnTo>
                  <a:cubicBezTo>
                    <a:pt x="0" y="54190"/>
                    <a:pt x="54190" y="0"/>
                    <a:pt x="121037" y="0"/>
                  </a:cubicBezTo>
                  <a:close/>
                </a:path>
              </a:pathLst>
            </a:custGeom>
            <a:solidFill>
              <a:srgbClr val="15141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134145" cy="335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925477" y="8534411"/>
            <a:ext cx="5649019" cy="891770"/>
            <a:chOff x="0" y="0"/>
            <a:chExt cx="1884812" cy="29754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84812" cy="297542"/>
            </a:xfrm>
            <a:custGeom>
              <a:avLst/>
              <a:gdLst/>
              <a:ahLst/>
              <a:cxnLst/>
              <a:rect l="l" t="t" r="r" b="b"/>
              <a:pathLst>
                <a:path w="1884812" h="297542">
                  <a:moveTo>
                    <a:pt x="137049" y="0"/>
                  </a:moveTo>
                  <a:lnTo>
                    <a:pt x="1747763" y="0"/>
                  </a:lnTo>
                  <a:cubicBezTo>
                    <a:pt x="1784111" y="0"/>
                    <a:pt x="1818970" y="14439"/>
                    <a:pt x="1844672" y="40141"/>
                  </a:cubicBezTo>
                  <a:cubicBezTo>
                    <a:pt x="1870373" y="65842"/>
                    <a:pt x="1884812" y="100701"/>
                    <a:pt x="1884812" y="137049"/>
                  </a:cubicBezTo>
                  <a:lnTo>
                    <a:pt x="1884812" y="160493"/>
                  </a:lnTo>
                  <a:cubicBezTo>
                    <a:pt x="1884812" y="196840"/>
                    <a:pt x="1870373" y="231699"/>
                    <a:pt x="1844672" y="257401"/>
                  </a:cubicBezTo>
                  <a:cubicBezTo>
                    <a:pt x="1818970" y="283103"/>
                    <a:pt x="1784111" y="297542"/>
                    <a:pt x="1747763" y="297542"/>
                  </a:cubicBezTo>
                  <a:lnTo>
                    <a:pt x="137049" y="297542"/>
                  </a:lnTo>
                  <a:cubicBezTo>
                    <a:pt x="100701" y="297542"/>
                    <a:pt x="65842" y="283103"/>
                    <a:pt x="40141" y="257401"/>
                  </a:cubicBezTo>
                  <a:cubicBezTo>
                    <a:pt x="14439" y="231699"/>
                    <a:pt x="0" y="196840"/>
                    <a:pt x="0" y="160493"/>
                  </a:cubicBezTo>
                  <a:lnTo>
                    <a:pt x="0" y="137049"/>
                  </a:lnTo>
                  <a:cubicBezTo>
                    <a:pt x="0" y="100701"/>
                    <a:pt x="14439" y="65842"/>
                    <a:pt x="40141" y="40141"/>
                  </a:cubicBezTo>
                  <a:cubicBezTo>
                    <a:pt x="65842" y="14439"/>
                    <a:pt x="100701" y="0"/>
                    <a:pt x="137049" y="0"/>
                  </a:cubicBezTo>
                  <a:close/>
                </a:path>
              </a:pathLst>
            </a:custGeom>
            <a:solidFill>
              <a:srgbClr val="151414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884812" cy="335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8658757" y="8664309"/>
            <a:ext cx="518218" cy="631973"/>
          </a:xfrm>
          <a:custGeom>
            <a:avLst/>
            <a:gdLst/>
            <a:ahLst/>
            <a:cxnLst/>
            <a:rect l="l" t="t" r="r" b="b"/>
            <a:pathLst>
              <a:path w="518218" h="631973">
                <a:moveTo>
                  <a:pt x="0" y="0"/>
                </a:moveTo>
                <a:lnTo>
                  <a:pt x="518218" y="0"/>
                </a:lnTo>
                <a:lnTo>
                  <a:pt x="518218" y="631974"/>
                </a:lnTo>
                <a:lnTo>
                  <a:pt x="0" y="631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707002" y="1577909"/>
            <a:ext cx="7691403" cy="2962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14"/>
              </a:lnSpc>
            </a:pPr>
            <a:r>
              <a:rPr lang="en-US" sz="7994" spc="-439">
                <a:solidFill>
                  <a:srgbClr val="151414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MERN Stack Technical Foundation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07002" y="4813145"/>
            <a:ext cx="6833250" cy="733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78"/>
              </a:lnSpc>
            </a:pPr>
            <a:r>
              <a:rPr lang="en-US" sz="1878" spc="-39">
                <a:solidFill>
                  <a:srgbClr val="15141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platform is built on a robust MERN architecture — MongoDB stores all user profiles, food listings, NGO claims, and delivery records, while Express and Node.js power the backend APIs and core business logic.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98981" y="6263606"/>
            <a:ext cx="5723758" cy="28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9"/>
              </a:lnSpc>
            </a:pPr>
            <a:r>
              <a:rPr lang="en-US" sz="2109" spc="-4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MongoDB: Users, Listings, Claims &amp; Delivery Records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26623" y="7533854"/>
            <a:ext cx="5394826" cy="28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9"/>
              </a:lnSpc>
            </a:pPr>
            <a:r>
              <a:rPr lang="en-US" sz="2109" spc="-4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Express &amp; Node.js: REST APIs &amp; Business Logic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26214" y="8806623"/>
            <a:ext cx="4806541" cy="28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9"/>
              </a:lnSpc>
            </a:pPr>
            <a:r>
              <a:rPr lang="en-US" sz="2109" spc="-4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React: Donor &amp; NGO Dashboards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74383" y="647700"/>
            <a:ext cx="2484917" cy="891770"/>
            <a:chOff x="0" y="0"/>
            <a:chExt cx="829100" cy="2975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29100" cy="297542"/>
            </a:xfrm>
            <a:custGeom>
              <a:avLst/>
              <a:gdLst/>
              <a:ahLst/>
              <a:cxnLst/>
              <a:rect l="l" t="t" r="r" b="b"/>
              <a:pathLst>
                <a:path w="829100" h="297542">
                  <a:moveTo>
                    <a:pt x="148771" y="0"/>
                  </a:moveTo>
                  <a:lnTo>
                    <a:pt x="680329" y="0"/>
                  </a:lnTo>
                  <a:cubicBezTo>
                    <a:pt x="762493" y="0"/>
                    <a:pt x="829100" y="66607"/>
                    <a:pt x="829100" y="148771"/>
                  </a:cubicBezTo>
                  <a:lnTo>
                    <a:pt x="829100" y="148771"/>
                  </a:lnTo>
                  <a:cubicBezTo>
                    <a:pt x="829100" y="188227"/>
                    <a:pt x="813426" y="226068"/>
                    <a:pt x="785526" y="253968"/>
                  </a:cubicBezTo>
                  <a:cubicBezTo>
                    <a:pt x="757626" y="281868"/>
                    <a:pt x="719786" y="297542"/>
                    <a:pt x="680329" y="297542"/>
                  </a:cubicBezTo>
                  <a:lnTo>
                    <a:pt x="148771" y="297542"/>
                  </a:lnTo>
                  <a:cubicBezTo>
                    <a:pt x="109314" y="297542"/>
                    <a:pt x="71474" y="281868"/>
                    <a:pt x="43574" y="253968"/>
                  </a:cubicBezTo>
                  <a:cubicBezTo>
                    <a:pt x="15674" y="226068"/>
                    <a:pt x="0" y="188227"/>
                    <a:pt x="0" y="148771"/>
                  </a:cubicBezTo>
                  <a:lnTo>
                    <a:pt x="0" y="148771"/>
                  </a:lnTo>
                  <a:cubicBezTo>
                    <a:pt x="0" y="109314"/>
                    <a:pt x="15674" y="71474"/>
                    <a:pt x="43574" y="43574"/>
                  </a:cubicBezTo>
                  <a:cubicBezTo>
                    <a:pt x="71474" y="15674"/>
                    <a:pt x="109314" y="0"/>
                    <a:pt x="148771" y="0"/>
                  </a:cubicBezTo>
                  <a:close/>
                </a:path>
              </a:pathLst>
            </a:custGeom>
            <a:solidFill>
              <a:srgbClr val="FFFFFF">
                <a:alpha val="27843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29100" cy="335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65658" y="899288"/>
            <a:ext cx="352560" cy="388594"/>
          </a:xfrm>
          <a:custGeom>
            <a:avLst/>
            <a:gdLst/>
            <a:ahLst/>
            <a:cxnLst/>
            <a:rect l="l" t="t" r="r" b="b"/>
            <a:pathLst>
              <a:path w="352560" h="388594">
                <a:moveTo>
                  <a:pt x="0" y="0"/>
                </a:moveTo>
                <a:lnTo>
                  <a:pt x="352561" y="0"/>
                </a:lnTo>
                <a:lnTo>
                  <a:pt x="352561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115092" y="899288"/>
            <a:ext cx="417435" cy="388594"/>
          </a:xfrm>
          <a:custGeom>
            <a:avLst/>
            <a:gdLst/>
            <a:ahLst/>
            <a:cxnLst/>
            <a:rect l="l" t="t" r="r" b="b"/>
            <a:pathLst>
              <a:path w="417435" h="388594">
                <a:moveTo>
                  <a:pt x="0" y="0"/>
                </a:moveTo>
                <a:lnTo>
                  <a:pt x="417435" y="0"/>
                </a:lnTo>
                <a:lnTo>
                  <a:pt x="417435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834339" y="647700"/>
            <a:ext cx="4594119" cy="891770"/>
            <a:chOff x="0" y="0"/>
            <a:chExt cx="1532842" cy="2975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32842" cy="297542"/>
            </a:xfrm>
            <a:custGeom>
              <a:avLst/>
              <a:gdLst/>
              <a:ahLst/>
              <a:cxnLst/>
              <a:rect l="l" t="t" r="r" b="b"/>
              <a:pathLst>
                <a:path w="1532842" h="297542">
                  <a:moveTo>
                    <a:pt x="148771" y="0"/>
                  </a:moveTo>
                  <a:lnTo>
                    <a:pt x="1384071" y="0"/>
                  </a:lnTo>
                  <a:cubicBezTo>
                    <a:pt x="1423527" y="0"/>
                    <a:pt x="1461368" y="15674"/>
                    <a:pt x="1489268" y="43574"/>
                  </a:cubicBezTo>
                  <a:cubicBezTo>
                    <a:pt x="1517168" y="71474"/>
                    <a:pt x="1532842" y="109314"/>
                    <a:pt x="1532842" y="148771"/>
                  </a:cubicBezTo>
                  <a:lnTo>
                    <a:pt x="1532842" y="148771"/>
                  </a:lnTo>
                  <a:cubicBezTo>
                    <a:pt x="1532842" y="188227"/>
                    <a:pt x="1517168" y="226068"/>
                    <a:pt x="1489268" y="253968"/>
                  </a:cubicBezTo>
                  <a:cubicBezTo>
                    <a:pt x="1461368" y="281868"/>
                    <a:pt x="1423527" y="297542"/>
                    <a:pt x="1384071" y="297542"/>
                  </a:cubicBezTo>
                  <a:lnTo>
                    <a:pt x="148771" y="297542"/>
                  </a:lnTo>
                  <a:cubicBezTo>
                    <a:pt x="109314" y="297542"/>
                    <a:pt x="71474" y="281868"/>
                    <a:pt x="43574" y="253968"/>
                  </a:cubicBezTo>
                  <a:cubicBezTo>
                    <a:pt x="15674" y="226068"/>
                    <a:pt x="0" y="188227"/>
                    <a:pt x="0" y="148771"/>
                  </a:cubicBezTo>
                  <a:lnTo>
                    <a:pt x="0" y="148771"/>
                  </a:lnTo>
                  <a:cubicBezTo>
                    <a:pt x="0" y="109314"/>
                    <a:pt x="15674" y="71474"/>
                    <a:pt x="43574" y="43574"/>
                  </a:cubicBezTo>
                  <a:cubicBezTo>
                    <a:pt x="71474" y="15674"/>
                    <a:pt x="109314" y="0"/>
                    <a:pt x="148771" y="0"/>
                  </a:cubicBezTo>
                  <a:close/>
                </a:path>
              </a:pathLst>
            </a:custGeom>
            <a:solidFill>
              <a:srgbClr val="FFFFFF">
                <a:alpha val="27843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532842" cy="335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3119554" y="899288"/>
            <a:ext cx="388594" cy="388594"/>
          </a:xfrm>
          <a:custGeom>
            <a:avLst/>
            <a:gdLst/>
            <a:ahLst/>
            <a:cxnLst/>
            <a:rect l="l" t="t" r="r" b="b"/>
            <a:pathLst>
              <a:path w="388594" h="388594">
                <a:moveTo>
                  <a:pt x="0" y="0"/>
                </a:moveTo>
                <a:lnTo>
                  <a:pt x="388594" y="0"/>
                </a:lnTo>
                <a:lnTo>
                  <a:pt x="388594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522408" y="899288"/>
            <a:ext cx="312995" cy="388594"/>
          </a:xfrm>
          <a:custGeom>
            <a:avLst/>
            <a:gdLst/>
            <a:ahLst/>
            <a:cxnLst/>
            <a:rect l="l" t="t" r="r" b="b"/>
            <a:pathLst>
              <a:path w="312995" h="388594">
                <a:moveTo>
                  <a:pt x="0" y="0"/>
                </a:moveTo>
                <a:lnTo>
                  <a:pt x="312995" y="0"/>
                </a:lnTo>
                <a:lnTo>
                  <a:pt x="312995" y="388594"/>
                </a:lnTo>
                <a:lnTo>
                  <a:pt x="0" y="388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859019" y="2057400"/>
            <a:ext cx="16631253" cy="10299863"/>
            <a:chOff x="0" y="0"/>
            <a:chExt cx="4380248" cy="271272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380248" cy="2712721"/>
            </a:xfrm>
            <a:custGeom>
              <a:avLst/>
              <a:gdLst/>
              <a:ahLst/>
              <a:cxnLst/>
              <a:rect l="l" t="t" r="r" b="b"/>
              <a:pathLst>
                <a:path w="4380248" h="2712721">
                  <a:moveTo>
                    <a:pt x="23741" y="0"/>
                  </a:moveTo>
                  <a:lnTo>
                    <a:pt x="4356507" y="0"/>
                  </a:lnTo>
                  <a:cubicBezTo>
                    <a:pt x="4362803" y="0"/>
                    <a:pt x="4368842" y="2501"/>
                    <a:pt x="4373294" y="6953"/>
                  </a:cubicBezTo>
                  <a:cubicBezTo>
                    <a:pt x="4377746" y="11406"/>
                    <a:pt x="4380248" y="17444"/>
                    <a:pt x="4380248" y="23741"/>
                  </a:cubicBezTo>
                  <a:lnTo>
                    <a:pt x="4380248" y="2688980"/>
                  </a:lnTo>
                  <a:cubicBezTo>
                    <a:pt x="4380248" y="2695277"/>
                    <a:pt x="4377746" y="2701315"/>
                    <a:pt x="4373294" y="2705768"/>
                  </a:cubicBezTo>
                  <a:cubicBezTo>
                    <a:pt x="4368842" y="2710220"/>
                    <a:pt x="4362803" y="2712721"/>
                    <a:pt x="4356507" y="2712721"/>
                  </a:cubicBezTo>
                  <a:lnTo>
                    <a:pt x="23741" y="2712721"/>
                  </a:lnTo>
                  <a:cubicBezTo>
                    <a:pt x="17444" y="2712721"/>
                    <a:pt x="11406" y="2710220"/>
                    <a:pt x="6953" y="2705768"/>
                  </a:cubicBezTo>
                  <a:cubicBezTo>
                    <a:pt x="2501" y="2701315"/>
                    <a:pt x="0" y="2695277"/>
                    <a:pt x="0" y="2688980"/>
                  </a:cubicBezTo>
                  <a:lnTo>
                    <a:pt x="0" y="23741"/>
                  </a:lnTo>
                  <a:cubicBezTo>
                    <a:pt x="0" y="17444"/>
                    <a:pt x="2501" y="11406"/>
                    <a:pt x="6953" y="6953"/>
                  </a:cubicBezTo>
                  <a:cubicBezTo>
                    <a:pt x="11406" y="2501"/>
                    <a:pt x="17444" y="0"/>
                    <a:pt x="237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380248" cy="2750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803634" y="2450125"/>
            <a:ext cx="8237214" cy="7353578"/>
            <a:chOff x="0" y="0"/>
            <a:chExt cx="1276160" cy="113926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76160" cy="1139262"/>
            </a:xfrm>
            <a:custGeom>
              <a:avLst/>
              <a:gdLst/>
              <a:ahLst/>
              <a:cxnLst/>
              <a:rect l="l" t="t" r="r" b="b"/>
              <a:pathLst>
                <a:path w="1276160" h="1139262">
                  <a:moveTo>
                    <a:pt x="32895" y="0"/>
                  </a:moveTo>
                  <a:lnTo>
                    <a:pt x="1243265" y="0"/>
                  </a:lnTo>
                  <a:cubicBezTo>
                    <a:pt x="1261432" y="0"/>
                    <a:pt x="1276160" y="14728"/>
                    <a:pt x="1276160" y="32895"/>
                  </a:cubicBezTo>
                  <a:lnTo>
                    <a:pt x="1276160" y="1106366"/>
                  </a:lnTo>
                  <a:cubicBezTo>
                    <a:pt x="1276160" y="1124534"/>
                    <a:pt x="1261432" y="1139262"/>
                    <a:pt x="1243265" y="1139262"/>
                  </a:cubicBezTo>
                  <a:lnTo>
                    <a:pt x="32895" y="1139262"/>
                  </a:lnTo>
                  <a:cubicBezTo>
                    <a:pt x="14728" y="1139262"/>
                    <a:pt x="0" y="1124534"/>
                    <a:pt x="0" y="1106366"/>
                  </a:cubicBezTo>
                  <a:lnTo>
                    <a:pt x="0" y="32895"/>
                  </a:lnTo>
                  <a:cubicBezTo>
                    <a:pt x="0" y="14728"/>
                    <a:pt x="14728" y="0"/>
                    <a:pt x="32895" y="0"/>
                  </a:cubicBezTo>
                  <a:close/>
                </a:path>
              </a:pathLst>
            </a:custGeom>
            <a:blipFill>
              <a:blip r:embed="rId6"/>
              <a:stretch>
                <a:fillRect t="-197" b="-197"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1830421" y="7626157"/>
            <a:ext cx="491186" cy="491186"/>
          </a:xfrm>
          <a:custGeom>
            <a:avLst/>
            <a:gdLst/>
            <a:ahLst/>
            <a:cxnLst/>
            <a:rect l="l" t="t" r="r" b="b"/>
            <a:pathLst>
              <a:path w="491186" h="491186">
                <a:moveTo>
                  <a:pt x="0" y="0"/>
                </a:moveTo>
                <a:lnTo>
                  <a:pt x="491186" y="0"/>
                </a:lnTo>
                <a:lnTo>
                  <a:pt x="491186" y="491187"/>
                </a:lnTo>
                <a:lnTo>
                  <a:pt x="0" y="4911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830421" y="8249932"/>
            <a:ext cx="491186" cy="491186"/>
          </a:xfrm>
          <a:custGeom>
            <a:avLst/>
            <a:gdLst/>
            <a:ahLst/>
            <a:cxnLst/>
            <a:rect l="l" t="t" r="r" b="b"/>
            <a:pathLst>
              <a:path w="491186" h="491186">
                <a:moveTo>
                  <a:pt x="0" y="0"/>
                </a:moveTo>
                <a:lnTo>
                  <a:pt x="491186" y="0"/>
                </a:lnTo>
                <a:lnTo>
                  <a:pt x="491186" y="491186"/>
                </a:lnTo>
                <a:lnTo>
                  <a:pt x="0" y="4911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830421" y="8874468"/>
            <a:ext cx="491186" cy="491186"/>
          </a:xfrm>
          <a:custGeom>
            <a:avLst/>
            <a:gdLst/>
            <a:ahLst/>
            <a:cxnLst/>
            <a:rect l="l" t="t" r="r" b="b"/>
            <a:pathLst>
              <a:path w="491186" h="491186">
                <a:moveTo>
                  <a:pt x="0" y="0"/>
                </a:moveTo>
                <a:lnTo>
                  <a:pt x="491186" y="0"/>
                </a:lnTo>
                <a:lnTo>
                  <a:pt x="491186" y="491186"/>
                </a:lnTo>
                <a:lnTo>
                  <a:pt x="0" y="4911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830421" y="2516800"/>
            <a:ext cx="6261344" cy="3609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362"/>
              </a:lnSpc>
            </a:pPr>
            <a:r>
              <a:rPr lang="en-US" sz="13890" spc="-763">
                <a:solidFill>
                  <a:srgbClr val="151414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Join Us Today!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30421" y="6210742"/>
            <a:ext cx="5442366" cy="929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66"/>
              </a:lnSpc>
            </a:pPr>
            <a:r>
              <a:rPr lang="en-US" sz="2466" spc="-120">
                <a:solidFill>
                  <a:srgbClr val="15141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Partner with us to reduce food waste, support NGOs, and expand local food access in your community.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9019" y="727825"/>
            <a:ext cx="2002078" cy="366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2"/>
              </a:lnSpc>
            </a:pPr>
            <a:r>
              <a:rPr lang="en-US" sz="2250" spc="-123">
                <a:solidFill>
                  <a:srgbClr val="FFFFF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FoodBridge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93990" y="919912"/>
            <a:ext cx="2440025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25"/>
              </a:lnSpc>
            </a:pPr>
            <a:r>
              <a:rPr lang="en-US" sz="2625" spc="-5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Get Started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39510" y="7710588"/>
            <a:ext cx="2150750" cy="364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02"/>
              </a:lnSpc>
              <a:spcBef>
                <a:spcPct val="0"/>
              </a:spcBef>
            </a:pPr>
            <a:r>
              <a:rPr lang="en-US" sz="2250">
                <a:solidFill>
                  <a:srgbClr val="15141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+1-800-FOODAID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39510" y="8334362"/>
            <a:ext cx="3358602" cy="364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02"/>
              </a:lnSpc>
              <a:spcBef>
                <a:spcPct val="0"/>
              </a:spcBef>
            </a:pPr>
            <a:r>
              <a:rPr lang="en-US" sz="2250">
                <a:solidFill>
                  <a:srgbClr val="15141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www.foodbridge.org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559841" y="8958898"/>
            <a:ext cx="4251040" cy="364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02"/>
              </a:lnSpc>
              <a:spcBef>
                <a:spcPct val="0"/>
              </a:spcBef>
            </a:pPr>
            <a:r>
              <a:rPr lang="en-US" sz="2250">
                <a:solidFill>
                  <a:srgbClr val="15141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partner@foodbridge.org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611</Words>
  <Application>Microsoft Office PowerPoint</Application>
  <PresentationFormat>Custom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Glacial Indifference Bold</vt:lpstr>
      <vt:lpstr>Arial</vt:lpstr>
      <vt:lpstr>Glacial Indifference</vt:lpstr>
      <vt:lpstr>Calibri</vt:lpstr>
      <vt:lpstr>Heading Now 71-78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yashashwini kukkapalli</dc:creator>
  <cp:lastModifiedBy>yashashwini kukkapalli</cp:lastModifiedBy>
  <cp:revision>1</cp:revision>
  <dcterms:created xsi:type="dcterms:W3CDTF">2006-08-16T00:00:00Z</dcterms:created>
  <dcterms:modified xsi:type="dcterms:W3CDTF">2026-10-09T17:39:15Z</dcterms:modified>
  <dc:identifier>DAHXidG-u_Y</dc:identifier>
</cp:coreProperties>
</file>